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3" r:id="rId3"/>
    <p:sldId id="275" r:id="rId4"/>
    <p:sldId id="274" r:id="rId5"/>
    <p:sldId id="257" r:id="rId6"/>
    <p:sldId id="258" r:id="rId7"/>
    <p:sldId id="260" r:id="rId8"/>
    <p:sldId id="261" r:id="rId9"/>
    <p:sldId id="268" r:id="rId10"/>
    <p:sldId id="262" r:id="rId11"/>
    <p:sldId id="263" r:id="rId12"/>
    <p:sldId id="264" r:id="rId13"/>
    <p:sldId id="272" r:id="rId14"/>
    <p:sldId id="265" r:id="rId15"/>
    <p:sldId id="266" r:id="rId16"/>
    <p:sldId id="269" r:id="rId17"/>
    <p:sldId id="270" r:id="rId18"/>
    <p:sldId id="271" r:id="rId19"/>
    <p:sldId id="259" r:id="rId20"/>
    <p:sldId id="267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>
        <p:scale>
          <a:sx n="125" d="100"/>
          <a:sy n="125" d="100"/>
        </p:scale>
        <p:origin x="-125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04F8C-DFE9-4649-9D80-719B43B00490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A066F-7706-4A1D-AC68-A7C0D05B66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812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A066F-7706-4A1D-AC68-A7C0D05B66B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2693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D3818-C043-8CA2-1237-2982CAAA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419E4-2EB3-3846-6AE8-1366AF730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6176F-0BE2-E68B-1F5B-B4156B41A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BD155-DAB2-8434-B699-3D6FFB219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A066F-7706-4A1D-AC68-A7C0D05B66B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594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DC380-1D31-1C2F-10E9-4913E82AF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8053B-7B1C-8822-D2C8-3CCF60692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87064-9C6D-1492-0B25-B5E4A5DF9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1C6A1-70EB-2C34-A91F-D953D0EF1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A066F-7706-4A1D-AC68-A7C0D05B66B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906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388E9-3A75-4152-3B56-BB46A588C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67399-218C-DE21-78B7-24B35C97B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53327C-F6B5-BB01-60C9-AB4F44EF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8B310C-F961-06AE-CE5C-D367F692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C85A82-5628-553F-847B-1E5C8757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967FE-746C-DC2D-C738-1CCD9887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2DCE4A-978F-3250-B966-241F12BE2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65569A-C64A-8244-85D4-A70A05F8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25602B-FF25-3EB6-2C60-1B0ECDF2A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D951A-8CF2-0579-815C-1C06E2EF4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128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B17A2B-8C44-00B9-D507-0468239F8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2E217A-4199-10FD-2A2D-D26949DAA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F5EC42-5ED7-9E98-3E97-626F6820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5283F2-B4CD-C84F-E296-356B2140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5BDD56-B2C0-FB63-AD5C-B2C56BF3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2112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145A66-DF80-80A5-812D-033BC7DB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1A7C90-6766-B520-A717-FB2B52F36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8C0345-9D09-19CC-7960-770B478C3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06BBF6-B1B7-8ED4-5252-361F2250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5C6151-DC5F-164A-9232-3CA73E3E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AF31875-C64B-78E0-C12F-5F45F64C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454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F6CBC-B9A2-5613-BFCA-DFF96500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0AEE4C-2D09-C74B-8831-E2D42F662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AF132C-D2B5-FD68-654D-D09E367F1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18C0F1-E6FE-4F5E-01AB-EBDB2DC90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0220FC2-9EEA-7B06-D2CA-819796D69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BCBEC1-2450-212C-55C1-18F052BC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8AB4D-2E09-DBC2-A59A-7DBFC92F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E59E75A-7D74-5878-F8E8-CC07B8DE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112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9A1F65-C51D-6713-B28D-960D94EA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959DE9-FED7-25DE-310F-2B211763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E185DD-7C7D-908C-EBF1-36B30F29F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BD933D-D048-0405-C5A9-0BC4086EE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39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6598B1F-30C0-A15C-CAF0-D20E47D5A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0855BE-4752-DD13-59D5-AF2E3CDC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DBDB9C-1DD1-1493-AF1A-DBAD3341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4345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335473-67CA-E60C-D204-7BF4D5BA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AD6D18-D98E-7F30-68E8-173688F49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152A10-6222-BB1A-F111-69BBCB2CA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796164-0E99-4ED9-301D-F11B57F1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DCD63D-A23D-19C2-BF48-C8D1C83D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8E85B3-5A58-6512-E28E-88B86086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9514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F657CA-23EE-2939-6D9B-58AE3E32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1F67955-12C4-CC5A-C5F7-CD0656D9D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C85E97-03AC-3206-229F-D19074299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BDBE4E-42CF-51EF-3B2C-B806F01F2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6D0580-3C85-462F-2F20-99007434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A041A5-C93A-EA65-9FBB-98070120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3247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1E0D30-DAAA-1324-4ABD-6E30900F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1DFEBD8-B23F-51B1-C1B1-0E5537BE6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70E2C4-DE44-C0AF-70DA-B380B08EF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77646D-6C2C-1CA1-C575-C7967409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D97E91-42DF-0D71-176F-0CF443284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3550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794C1BC-721B-F50E-CCEC-AEE1498B2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66108D-B871-D000-72CE-A3F3CAC33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1C390F-FDB8-B055-6E2D-5A254EDA5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A63B7C-AD69-E14C-0B48-B2DF9521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0C0553-5857-9C5A-50F6-1274799E4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94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5B599A-ACC4-E7D7-AB7E-DE6307D2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A230A0-5140-83F3-4A8A-7F788AF2D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41C3A9-BBE0-A960-5B5B-0A8FAF230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7402E-28A9-44C5-8B38-C1668E5C0C3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C07E2B-AB3A-64EB-953E-362D62C3E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5FC085-780E-6DA9-AE6A-C56F6DCE1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28469-0345-4DF7-A06B-1271919E41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82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9CB15D4-0725-E971-74B2-5F1A08C05F8A}"/>
              </a:ext>
            </a:extLst>
          </p:cNvPr>
          <p:cNvCxnSpPr/>
          <p:nvPr/>
        </p:nvCxnSpPr>
        <p:spPr>
          <a:xfrm>
            <a:off x="-1121925" y="3190673"/>
            <a:ext cx="1483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4C80EB5-0EDD-444D-679C-8753B0199EFB}"/>
              </a:ext>
            </a:extLst>
          </p:cNvPr>
          <p:cNvCxnSpPr/>
          <p:nvPr/>
        </p:nvCxnSpPr>
        <p:spPr>
          <a:xfrm flipV="1">
            <a:off x="-943581" y="1780162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6C625E6A-D39F-5D9A-2D75-7E0F96825AF2}"/>
              </a:ext>
            </a:extLst>
          </p:cNvPr>
          <p:cNvSpPr txBox="1"/>
          <p:nvPr/>
        </p:nvSpPr>
        <p:spPr>
          <a:xfrm rot="16840467">
            <a:off x="-1791428" y="2037587"/>
            <a:ext cx="1615514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Retrieving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716473CE-59F2-5E8A-8D88-D2383CFF2765}"/>
              </a:ext>
            </a:extLst>
          </p:cNvPr>
          <p:cNvCxnSpPr>
            <a:cxnSpLocks/>
          </p:cNvCxnSpPr>
          <p:nvPr/>
        </p:nvCxnSpPr>
        <p:spPr>
          <a:xfrm flipH="1" flipV="1">
            <a:off x="-623178" y="3190673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A5FD7C52-6CAF-20AD-B52C-B24009015160}"/>
              </a:ext>
            </a:extLst>
          </p:cNvPr>
          <p:cNvSpPr txBox="1"/>
          <p:nvPr/>
        </p:nvSpPr>
        <p:spPr>
          <a:xfrm rot="15675350">
            <a:off x="-1204718" y="3744164"/>
            <a:ext cx="1038428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Filtering 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72A93BF3-B191-B010-D68D-18A3ACFF8435}"/>
              </a:ext>
            </a:extLst>
          </p:cNvPr>
          <p:cNvCxnSpPr/>
          <p:nvPr/>
        </p:nvCxnSpPr>
        <p:spPr>
          <a:xfrm flipV="1">
            <a:off x="-35807" y="1753659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E179A751-B6C8-3340-8412-06ABA96FBAEA}"/>
              </a:ext>
            </a:extLst>
          </p:cNvPr>
          <p:cNvSpPr txBox="1"/>
          <p:nvPr/>
        </p:nvSpPr>
        <p:spPr>
          <a:xfrm rot="16840467">
            <a:off x="-760847" y="2100924"/>
            <a:ext cx="1363749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Sorting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BD370DE-7BBB-19ED-DDA2-9DF7A710911F}"/>
              </a:ext>
            </a:extLst>
          </p:cNvPr>
          <p:cNvSpPr txBox="1"/>
          <p:nvPr/>
        </p:nvSpPr>
        <p:spPr>
          <a:xfrm rot="15688451">
            <a:off x="-884063" y="3718657"/>
            <a:ext cx="2265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/>
              <a:t>Programming</a:t>
            </a:r>
          </a:p>
          <a:p>
            <a:pPr algn="ctr"/>
            <a:r>
              <a:rPr lang="de-DE" b="1" dirty="0"/>
              <a:t> Skills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507E882-3288-82FC-45BE-CFEE64BCABE3}"/>
              </a:ext>
            </a:extLst>
          </p:cNvPr>
          <p:cNvCxnSpPr>
            <a:cxnSpLocks/>
          </p:cNvCxnSpPr>
          <p:nvPr/>
        </p:nvCxnSpPr>
        <p:spPr>
          <a:xfrm flipH="1" flipV="1">
            <a:off x="484170" y="3183130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C596918-A9F2-E6E9-B8B2-7C64248C8005}"/>
              </a:ext>
            </a:extLst>
          </p:cNvPr>
          <p:cNvCxnSpPr>
            <a:cxnSpLocks/>
          </p:cNvCxnSpPr>
          <p:nvPr/>
        </p:nvCxnSpPr>
        <p:spPr>
          <a:xfrm flipV="1">
            <a:off x="1795247" y="1796855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1543C8CC-C052-A628-CCDD-83B7853D509F}"/>
              </a:ext>
            </a:extLst>
          </p:cNvPr>
          <p:cNvSpPr txBox="1"/>
          <p:nvPr/>
        </p:nvSpPr>
        <p:spPr>
          <a:xfrm rot="16763007">
            <a:off x="609906" y="1956877"/>
            <a:ext cx="1945414" cy="71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Transformation Functions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60A6B629-7FBD-BD0E-39FA-03605A50241A}"/>
              </a:ext>
            </a:extLst>
          </p:cNvPr>
          <p:cNvCxnSpPr>
            <a:cxnSpLocks/>
          </p:cNvCxnSpPr>
          <p:nvPr/>
        </p:nvCxnSpPr>
        <p:spPr>
          <a:xfrm flipH="1" flipV="1">
            <a:off x="2393880" y="3190670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0E8C4A6D-947B-5ABD-487D-4217E71B7964}"/>
              </a:ext>
            </a:extLst>
          </p:cNvPr>
          <p:cNvSpPr txBox="1"/>
          <p:nvPr/>
        </p:nvSpPr>
        <p:spPr>
          <a:xfrm rot="15668993">
            <a:off x="1181330" y="3706505"/>
            <a:ext cx="1908544" cy="71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b="1" dirty="0"/>
              <a:t>Grouping and Summarizing</a:t>
            </a:r>
            <a:endParaRPr lang="de-DE" dirty="0"/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6DC8E54-A3F8-57CA-9166-48C18549F8B9}"/>
              </a:ext>
            </a:extLst>
          </p:cNvPr>
          <p:cNvCxnSpPr>
            <a:cxnSpLocks/>
          </p:cNvCxnSpPr>
          <p:nvPr/>
        </p:nvCxnSpPr>
        <p:spPr>
          <a:xfrm flipV="1">
            <a:off x="2990151" y="1785624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5E8D744C-2C65-83E3-C58E-7ECBBCE599BE}"/>
              </a:ext>
            </a:extLst>
          </p:cNvPr>
          <p:cNvSpPr txBox="1"/>
          <p:nvPr/>
        </p:nvSpPr>
        <p:spPr>
          <a:xfrm rot="15609339">
            <a:off x="4571171" y="3806412"/>
            <a:ext cx="1796619" cy="71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dirty="0"/>
              <a:t>Querying from Multiple Tables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84FEBA0-436D-C818-4F2D-666D34266EE0}"/>
              </a:ext>
            </a:extLst>
          </p:cNvPr>
          <p:cNvSpPr txBox="1"/>
          <p:nvPr/>
        </p:nvSpPr>
        <p:spPr>
          <a:xfrm rot="16900619">
            <a:off x="2930816" y="1975344"/>
            <a:ext cx="2065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/>
              <a:t>Data Definition</a:t>
            </a:r>
          </a:p>
          <a:p>
            <a:pPr algn="ctr"/>
            <a:r>
              <a:rPr lang="de-DE" b="1" dirty="0"/>
              <a:t> Language (DDL)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CA31D58E-0C2F-2225-0181-7B218210CE7B}"/>
              </a:ext>
            </a:extLst>
          </p:cNvPr>
          <p:cNvCxnSpPr>
            <a:cxnSpLocks/>
          </p:cNvCxnSpPr>
          <p:nvPr/>
        </p:nvCxnSpPr>
        <p:spPr>
          <a:xfrm flipH="1" flipV="1">
            <a:off x="5729082" y="3207366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F3A9629-E278-618E-D564-C659AFC116F1}"/>
              </a:ext>
            </a:extLst>
          </p:cNvPr>
          <p:cNvCxnSpPr>
            <a:cxnSpLocks/>
          </p:cNvCxnSpPr>
          <p:nvPr/>
        </p:nvCxnSpPr>
        <p:spPr>
          <a:xfrm flipV="1">
            <a:off x="4165652" y="1774701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9D528FD8-1D7F-6122-2CF1-9F0E5F68E1FB}"/>
              </a:ext>
            </a:extLst>
          </p:cNvPr>
          <p:cNvSpPr txBox="1"/>
          <p:nvPr/>
        </p:nvSpPr>
        <p:spPr>
          <a:xfrm rot="15683183">
            <a:off x="3424742" y="3897540"/>
            <a:ext cx="2097223" cy="71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b="1" dirty="0"/>
              <a:t>Data Manipulation Language (DML)</a:t>
            </a:r>
            <a:endParaRPr lang="de-DE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D17075A-C6D3-26DA-D8DD-A7BCADCA8EEA}"/>
              </a:ext>
            </a:extLst>
          </p:cNvPr>
          <p:cNvSpPr txBox="1"/>
          <p:nvPr/>
        </p:nvSpPr>
        <p:spPr>
          <a:xfrm rot="16711978">
            <a:off x="1775858" y="1959466"/>
            <a:ext cx="1982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Aggregations</a:t>
            </a:r>
            <a:r>
              <a:rPr lang="de-D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</a:t>
            </a:r>
          </a:p>
          <a:p>
            <a:pPr algn="ctr"/>
            <a:r>
              <a:rPr lang="de-D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Windowing</a:t>
            </a:r>
            <a:endParaRPr lang="de-DE" dirty="0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CBF1187-C73A-0011-6D5D-F1BC5EB3DBC7}"/>
              </a:ext>
            </a:extLst>
          </p:cNvPr>
          <p:cNvCxnSpPr>
            <a:cxnSpLocks/>
          </p:cNvCxnSpPr>
          <p:nvPr/>
        </p:nvCxnSpPr>
        <p:spPr>
          <a:xfrm flipH="1" flipV="1">
            <a:off x="4731496" y="3197364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73CE38D-FC61-5246-6986-4DA7CA633606}"/>
              </a:ext>
            </a:extLst>
          </p:cNvPr>
          <p:cNvCxnSpPr>
            <a:cxnSpLocks/>
          </p:cNvCxnSpPr>
          <p:nvPr/>
        </p:nvCxnSpPr>
        <p:spPr>
          <a:xfrm flipV="1">
            <a:off x="741074" y="1774700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C3CB8D56-05D6-09ED-3EF7-7D379A4B9C69}"/>
              </a:ext>
            </a:extLst>
          </p:cNvPr>
          <p:cNvSpPr txBox="1"/>
          <p:nvPr/>
        </p:nvSpPr>
        <p:spPr>
          <a:xfrm rot="16761556">
            <a:off x="-122775" y="2211057"/>
            <a:ext cx="1604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 err="1"/>
              <a:t>Subquery</a:t>
            </a:r>
            <a:endParaRPr lang="de-DE" b="1" dirty="0"/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CF8AD46F-1C3E-580A-9959-BD0AB22C3531}"/>
              </a:ext>
            </a:extLst>
          </p:cNvPr>
          <p:cNvCxnSpPr>
            <a:cxnSpLocks/>
          </p:cNvCxnSpPr>
          <p:nvPr/>
        </p:nvCxnSpPr>
        <p:spPr>
          <a:xfrm flipV="1">
            <a:off x="7515772" y="1796855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9B40A1D4-71EF-560B-8C3C-10E0B26CBB69}"/>
              </a:ext>
            </a:extLst>
          </p:cNvPr>
          <p:cNvSpPr txBox="1"/>
          <p:nvPr/>
        </p:nvSpPr>
        <p:spPr>
          <a:xfrm rot="16692743">
            <a:off x="6311627" y="1940226"/>
            <a:ext cx="2065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/>
              <a:t>Common Table Expression (CTE)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C4E3D3D4-CFA9-3B9F-11E1-9B3437C2B9EC}"/>
              </a:ext>
            </a:extLst>
          </p:cNvPr>
          <p:cNvSpPr txBox="1"/>
          <p:nvPr/>
        </p:nvSpPr>
        <p:spPr>
          <a:xfrm rot="16847102">
            <a:off x="1294332" y="1962283"/>
            <a:ext cx="2162191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Analytic Function 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C4C94151-2FAD-E6A8-034E-000728EA8D86}"/>
              </a:ext>
            </a:extLst>
          </p:cNvPr>
          <p:cNvCxnSpPr>
            <a:cxnSpLocks/>
          </p:cNvCxnSpPr>
          <p:nvPr/>
        </p:nvCxnSpPr>
        <p:spPr>
          <a:xfrm flipV="1">
            <a:off x="4971935" y="1018917"/>
            <a:ext cx="0" cy="2180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C5B677B2-0878-89E3-D19B-B5F6DA5B9E3E}"/>
              </a:ext>
            </a:extLst>
          </p:cNvPr>
          <p:cNvSpPr txBox="1"/>
          <p:nvPr/>
        </p:nvSpPr>
        <p:spPr>
          <a:xfrm>
            <a:off x="4063881" y="564239"/>
            <a:ext cx="2113751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Modelling ?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2B16037F-5597-4032-E9D5-AE266D30C35B}"/>
              </a:ext>
            </a:extLst>
          </p:cNvPr>
          <p:cNvCxnSpPr>
            <a:cxnSpLocks/>
          </p:cNvCxnSpPr>
          <p:nvPr/>
        </p:nvCxnSpPr>
        <p:spPr>
          <a:xfrm flipH="1" flipV="1">
            <a:off x="6749507" y="3217177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05E0B03A-1835-A757-340B-AEAAF086A419}"/>
              </a:ext>
            </a:extLst>
          </p:cNvPr>
          <p:cNvSpPr txBox="1"/>
          <p:nvPr/>
        </p:nvSpPr>
        <p:spPr>
          <a:xfrm rot="15683183">
            <a:off x="6151074" y="3715035"/>
            <a:ext cx="927876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VIEW</a:t>
            </a: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6B0EBC52-C636-D5C3-54A5-2CBCDD90A47A}"/>
              </a:ext>
            </a:extLst>
          </p:cNvPr>
          <p:cNvCxnSpPr>
            <a:cxnSpLocks/>
          </p:cNvCxnSpPr>
          <p:nvPr/>
        </p:nvCxnSpPr>
        <p:spPr>
          <a:xfrm flipV="1">
            <a:off x="8251537" y="1677215"/>
            <a:ext cx="253651" cy="1504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B98CD750-0441-7AEA-FA4F-97C6B87338D6}"/>
              </a:ext>
            </a:extLst>
          </p:cNvPr>
          <p:cNvSpPr txBox="1"/>
          <p:nvPr/>
        </p:nvSpPr>
        <p:spPr>
          <a:xfrm rot="16855654">
            <a:off x="7115240" y="2211057"/>
            <a:ext cx="2065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/>
              <a:t>Functions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AB6D86BE-055C-7354-2E21-4071F3BC26E4}"/>
              </a:ext>
            </a:extLst>
          </p:cNvPr>
          <p:cNvCxnSpPr>
            <a:cxnSpLocks/>
          </p:cNvCxnSpPr>
          <p:nvPr/>
        </p:nvCxnSpPr>
        <p:spPr>
          <a:xfrm flipH="1" flipV="1">
            <a:off x="9277561" y="3226982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78FD3303-7445-5003-38F9-7A885CE4F70E}"/>
              </a:ext>
            </a:extLst>
          </p:cNvPr>
          <p:cNvSpPr txBox="1"/>
          <p:nvPr/>
        </p:nvSpPr>
        <p:spPr>
          <a:xfrm rot="15683183">
            <a:off x="8679128" y="3724840"/>
            <a:ext cx="927876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SPs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70C53127-1FD4-83D8-95E6-4FCA047CF173}"/>
              </a:ext>
            </a:extLst>
          </p:cNvPr>
          <p:cNvCxnSpPr>
            <a:cxnSpLocks/>
          </p:cNvCxnSpPr>
          <p:nvPr/>
        </p:nvCxnSpPr>
        <p:spPr>
          <a:xfrm flipV="1">
            <a:off x="9798120" y="1786853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4C750792-2939-66E6-DEF2-C44701E9E8BE}"/>
              </a:ext>
            </a:extLst>
          </p:cNvPr>
          <p:cNvSpPr txBox="1"/>
          <p:nvPr/>
        </p:nvSpPr>
        <p:spPr>
          <a:xfrm rot="16757062">
            <a:off x="8304712" y="1476759"/>
            <a:ext cx="21340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 err="1">
                <a:solidFill>
                  <a:srgbClr val="000000"/>
                </a:solidFill>
                <a:latin typeface="HelveticaNeue-HeavyCond"/>
              </a:rPr>
              <a:t>ransactions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HelveticaNeue-HeavyCond"/>
              </a:rPr>
              <a:t>,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HelveticaNeue-HeavyCond"/>
              </a:rPr>
              <a:t>Locking,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HelveticaNeue-HeavyCond"/>
              </a:rPr>
              <a:t> Blocking,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HelveticaNeue-HeavyCond"/>
              </a:rPr>
              <a:t>and Deadlocking</a:t>
            </a:r>
            <a:endParaRPr lang="de-DE" b="1" dirty="0"/>
          </a:p>
        </p:txBody>
      </p: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5C1ABDC3-B550-2A2F-9539-8622BEC8137C}"/>
              </a:ext>
            </a:extLst>
          </p:cNvPr>
          <p:cNvCxnSpPr>
            <a:cxnSpLocks/>
          </p:cNvCxnSpPr>
          <p:nvPr/>
        </p:nvCxnSpPr>
        <p:spPr>
          <a:xfrm flipH="1" flipV="1">
            <a:off x="10698935" y="3191407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FD118EEF-EC0F-B414-894C-DBC5BE59DE63}"/>
              </a:ext>
            </a:extLst>
          </p:cNvPr>
          <p:cNvSpPr txBox="1"/>
          <p:nvPr/>
        </p:nvSpPr>
        <p:spPr>
          <a:xfrm rot="15683183">
            <a:off x="9931148" y="3751698"/>
            <a:ext cx="1336776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Triggers</a:t>
            </a:r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88B6BBA2-5A90-D486-77D8-779D72DE0D85}"/>
              </a:ext>
            </a:extLst>
          </p:cNvPr>
          <p:cNvCxnSpPr>
            <a:cxnSpLocks/>
          </p:cNvCxnSpPr>
          <p:nvPr/>
        </p:nvCxnSpPr>
        <p:spPr>
          <a:xfrm flipV="1">
            <a:off x="11685647" y="1702519"/>
            <a:ext cx="253651" cy="1504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F6E1F66A-35D3-857C-4A55-6EFB82E72831}"/>
              </a:ext>
            </a:extLst>
          </p:cNvPr>
          <p:cNvSpPr txBox="1"/>
          <p:nvPr/>
        </p:nvSpPr>
        <p:spPr>
          <a:xfrm rot="16855654">
            <a:off x="10563919" y="1993209"/>
            <a:ext cx="2065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/>
              <a:t>Error </a:t>
            </a:r>
            <a:r>
              <a:rPr lang="de-DE" b="1" dirty="0" err="1"/>
              <a:t>Handelling</a:t>
            </a:r>
            <a:endParaRPr lang="de-DE" b="1" dirty="0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AAAB2728-48DC-D053-BC09-57AF19EA59FE}"/>
              </a:ext>
            </a:extLst>
          </p:cNvPr>
          <p:cNvSpPr txBox="1"/>
          <p:nvPr/>
        </p:nvSpPr>
        <p:spPr>
          <a:xfrm>
            <a:off x="1566972" y="5320573"/>
            <a:ext cx="2101288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PIVOT / UNPIVOT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0E2DD4B4-B006-8320-8268-2B4BBFEDD02D}"/>
              </a:ext>
            </a:extLst>
          </p:cNvPr>
          <p:cNvCxnSpPr>
            <a:cxnSpLocks/>
          </p:cNvCxnSpPr>
          <p:nvPr/>
        </p:nvCxnSpPr>
        <p:spPr>
          <a:xfrm flipH="1" flipV="1">
            <a:off x="2651259" y="3226982"/>
            <a:ext cx="324524" cy="2052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00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CA4AE-6B97-E7EA-0862-A194BB1A1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85BEB00-DB37-EA7E-77D0-BEF24E51D428}"/>
              </a:ext>
            </a:extLst>
          </p:cNvPr>
          <p:cNvCxnSpPr/>
          <p:nvPr/>
        </p:nvCxnSpPr>
        <p:spPr>
          <a:xfrm>
            <a:off x="-1550189" y="3190673"/>
            <a:ext cx="1483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ED55B14F-8EA7-5BBA-E023-7D17DDCB3320}"/>
              </a:ext>
            </a:extLst>
          </p:cNvPr>
          <p:cNvCxnSpPr/>
          <p:nvPr/>
        </p:nvCxnSpPr>
        <p:spPr>
          <a:xfrm flipV="1">
            <a:off x="1313480" y="1780162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51C5B2D9-8B27-39DF-72BD-DD6EB9B3F333}"/>
              </a:ext>
            </a:extLst>
          </p:cNvPr>
          <p:cNvSpPr txBox="1"/>
          <p:nvPr/>
        </p:nvSpPr>
        <p:spPr>
          <a:xfrm rot="16840467">
            <a:off x="465633" y="2054386"/>
            <a:ext cx="1615514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Retrieving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5AD2972D-1275-3CBC-6C65-C6038B7F2B8E}"/>
              </a:ext>
            </a:extLst>
          </p:cNvPr>
          <p:cNvCxnSpPr>
            <a:cxnSpLocks/>
          </p:cNvCxnSpPr>
          <p:nvPr/>
        </p:nvCxnSpPr>
        <p:spPr>
          <a:xfrm flipH="1" flipV="1">
            <a:off x="1633883" y="3190673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A498C06F-AEF6-A3DE-08EE-182D9F44577B}"/>
              </a:ext>
            </a:extLst>
          </p:cNvPr>
          <p:cNvSpPr txBox="1"/>
          <p:nvPr/>
        </p:nvSpPr>
        <p:spPr>
          <a:xfrm rot="15675350">
            <a:off x="1052343" y="3744164"/>
            <a:ext cx="1038428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Filtering</a:t>
            </a: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FCB2DC00-8FDD-2F5D-6093-C92447CD0CF3}"/>
              </a:ext>
            </a:extLst>
          </p:cNvPr>
          <p:cNvCxnSpPr/>
          <p:nvPr/>
        </p:nvCxnSpPr>
        <p:spPr>
          <a:xfrm flipV="1">
            <a:off x="2012909" y="1753659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E1983193-2266-04B8-7ABA-DAD599A06CF5}"/>
              </a:ext>
            </a:extLst>
          </p:cNvPr>
          <p:cNvSpPr txBox="1"/>
          <p:nvPr/>
        </p:nvSpPr>
        <p:spPr>
          <a:xfrm rot="16840467">
            <a:off x="1287869" y="2117723"/>
            <a:ext cx="1363749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6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Sorting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06272B0-5B04-A69A-521E-40FC21958012}"/>
              </a:ext>
            </a:extLst>
          </p:cNvPr>
          <p:cNvSpPr txBox="1"/>
          <p:nvPr/>
        </p:nvSpPr>
        <p:spPr>
          <a:xfrm rot="15688451">
            <a:off x="1153078" y="3749435"/>
            <a:ext cx="22652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/>
              <a:t>Programming</a:t>
            </a:r>
          </a:p>
          <a:p>
            <a:pPr algn="ctr"/>
            <a:r>
              <a:rPr lang="de-DE" sz="1600" b="1" dirty="0"/>
              <a:t> Skills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13D7B1F-1356-AB4C-8752-D4E58D265CFA}"/>
              </a:ext>
            </a:extLst>
          </p:cNvPr>
          <p:cNvCxnSpPr>
            <a:cxnSpLocks/>
          </p:cNvCxnSpPr>
          <p:nvPr/>
        </p:nvCxnSpPr>
        <p:spPr>
          <a:xfrm flipH="1" flipV="1">
            <a:off x="2475011" y="3183130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64BFDFA-BADE-34B3-ED9A-51C4C715E7CB}"/>
              </a:ext>
            </a:extLst>
          </p:cNvPr>
          <p:cNvCxnSpPr>
            <a:cxnSpLocks/>
          </p:cNvCxnSpPr>
          <p:nvPr/>
        </p:nvCxnSpPr>
        <p:spPr>
          <a:xfrm flipV="1">
            <a:off x="3959478" y="1796854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5FF83BD2-B3A5-4572-6C78-D02F31CD90E8}"/>
              </a:ext>
            </a:extLst>
          </p:cNvPr>
          <p:cNvSpPr txBox="1"/>
          <p:nvPr/>
        </p:nvSpPr>
        <p:spPr>
          <a:xfrm rot="15640153">
            <a:off x="2377631" y="3711650"/>
            <a:ext cx="1834336" cy="6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Transformation Functions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DB9D0CE-39D5-B923-E72B-44AAD4C9D2F4}"/>
              </a:ext>
            </a:extLst>
          </p:cNvPr>
          <p:cNvCxnSpPr>
            <a:cxnSpLocks/>
          </p:cNvCxnSpPr>
          <p:nvPr/>
        </p:nvCxnSpPr>
        <p:spPr>
          <a:xfrm flipH="1" flipV="1">
            <a:off x="4501615" y="3182177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FA6300FF-50FB-5F12-3EFD-FAE5DEC5149C}"/>
              </a:ext>
            </a:extLst>
          </p:cNvPr>
          <p:cNvSpPr txBox="1"/>
          <p:nvPr/>
        </p:nvSpPr>
        <p:spPr>
          <a:xfrm rot="16700145">
            <a:off x="2816526" y="2120839"/>
            <a:ext cx="1908544" cy="6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600" b="1" dirty="0"/>
              <a:t>Grouping and Summarizing</a:t>
            </a:r>
            <a:endParaRPr lang="de-DE" sz="1600" dirty="0"/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5C272D7F-15B8-C739-C45F-A5478306743E}"/>
              </a:ext>
            </a:extLst>
          </p:cNvPr>
          <p:cNvCxnSpPr>
            <a:cxnSpLocks/>
          </p:cNvCxnSpPr>
          <p:nvPr/>
        </p:nvCxnSpPr>
        <p:spPr>
          <a:xfrm flipV="1">
            <a:off x="5073593" y="1785624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3379E7CC-4922-8300-33E5-E62587A52C5B}"/>
              </a:ext>
            </a:extLst>
          </p:cNvPr>
          <p:cNvSpPr txBox="1"/>
          <p:nvPr/>
        </p:nvSpPr>
        <p:spPr>
          <a:xfrm rot="15609339">
            <a:off x="5740135" y="3619906"/>
            <a:ext cx="1796619" cy="6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dirty="0"/>
              <a:t>Querying from Multiple Tables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7BB7557-6E65-D326-78C8-EDDD9DB064A9}"/>
              </a:ext>
            </a:extLst>
          </p:cNvPr>
          <p:cNvSpPr txBox="1"/>
          <p:nvPr/>
        </p:nvSpPr>
        <p:spPr>
          <a:xfrm rot="15681854">
            <a:off x="4376977" y="3805559"/>
            <a:ext cx="20652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/>
              <a:t>Data Definition</a:t>
            </a:r>
          </a:p>
          <a:p>
            <a:pPr algn="ctr"/>
            <a:r>
              <a:rPr lang="de-DE" sz="1600" b="1" dirty="0"/>
              <a:t> Language (DDL)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CA68EA25-4D5D-74C9-44C4-B7ADD3A9929C}"/>
              </a:ext>
            </a:extLst>
          </p:cNvPr>
          <p:cNvCxnSpPr>
            <a:cxnSpLocks/>
          </p:cNvCxnSpPr>
          <p:nvPr/>
        </p:nvCxnSpPr>
        <p:spPr>
          <a:xfrm flipH="1" flipV="1">
            <a:off x="6874970" y="3207366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A638814C-320D-17A6-CD33-7D5EB54DCD4A}"/>
              </a:ext>
            </a:extLst>
          </p:cNvPr>
          <p:cNvCxnSpPr>
            <a:cxnSpLocks/>
          </p:cNvCxnSpPr>
          <p:nvPr/>
        </p:nvCxnSpPr>
        <p:spPr>
          <a:xfrm flipH="1" flipV="1">
            <a:off x="5565973" y="3187318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EC3B8680-F3E5-A52E-02D5-0EF4AC68777E}"/>
              </a:ext>
            </a:extLst>
          </p:cNvPr>
          <p:cNvSpPr txBox="1"/>
          <p:nvPr/>
        </p:nvSpPr>
        <p:spPr>
          <a:xfrm rot="16805328">
            <a:off x="5032766" y="1800472"/>
            <a:ext cx="2097223" cy="6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600" b="1" dirty="0"/>
              <a:t>Data Manipulation Language (DML)</a:t>
            </a:r>
            <a:endParaRPr lang="de-DE" sz="1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8D69D09-0692-3361-62BD-F435B93BE498}"/>
              </a:ext>
            </a:extLst>
          </p:cNvPr>
          <p:cNvSpPr txBox="1"/>
          <p:nvPr/>
        </p:nvSpPr>
        <p:spPr>
          <a:xfrm rot="16738306">
            <a:off x="3692384" y="1849177"/>
            <a:ext cx="24543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Aggregation and Analytical </a:t>
            </a:r>
            <a:r>
              <a:rPr lang="de-DE" sz="16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de-DE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unction</a:t>
            </a:r>
            <a:r>
              <a:rPr lang="de-DE" sz="16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endParaRPr lang="de-DE" sz="1600" dirty="0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554A83B-7EA7-F045-B235-A114EA522C37}"/>
              </a:ext>
            </a:extLst>
          </p:cNvPr>
          <p:cNvCxnSpPr>
            <a:cxnSpLocks/>
          </p:cNvCxnSpPr>
          <p:nvPr/>
        </p:nvCxnSpPr>
        <p:spPr>
          <a:xfrm flipV="1">
            <a:off x="6240359" y="1774260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00F95C6-F876-177C-C395-C0E8B7AF48D4}"/>
              </a:ext>
            </a:extLst>
          </p:cNvPr>
          <p:cNvCxnSpPr>
            <a:cxnSpLocks/>
          </p:cNvCxnSpPr>
          <p:nvPr/>
        </p:nvCxnSpPr>
        <p:spPr>
          <a:xfrm flipV="1">
            <a:off x="2928685" y="1774700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93067099-CC4A-31D9-5525-B316B5DEF7CE}"/>
              </a:ext>
            </a:extLst>
          </p:cNvPr>
          <p:cNvSpPr txBox="1"/>
          <p:nvPr/>
        </p:nvSpPr>
        <p:spPr>
          <a:xfrm rot="16761556">
            <a:off x="2064836" y="2226446"/>
            <a:ext cx="1604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 err="1"/>
              <a:t>Subquery</a:t>
            </a:r>
            <a:endParaRPr lang="de-DE" sz="1600" b="1" dirty="0"/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90EDC9D-75DF-30F9-1342-828B5BA61412}"/>
              </a:ext>
            </a:extLst>
          </p:cNvPr>
          <p:cNvCxnSpPr>
            <a:cxnSpLocks/>
          </p:cNvCxnSpPr>
          <p:nvPr/>
        </p:nvCxnSpPr>
        <p:spPr>
          <a:xfrm flipH="1" flipV="1">
            <a:off x="8342299" y="3188625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9AEC480C-6DA9-F9DE-2C60-9991C8315081}"/>
              </a:ext>
            </a:extLst>
          </p:cNvPr>
          <p:cNvSpPr txBox="1"/>
          <p:nvPr/>
        </p:nvSpPr>
        <p:spPr>
          <a:xfrm rot="15709791">
            <a:off x="7156337" y="3927718"/>
            <a:ext cx="20652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/>
              <a:t>Common Table Expression (CTE)</a:t>
            </a:r>
          </a:p>
        </p:txBody>
      </p: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BD220728-DF6A-F944-E0DA-9D10AB6FCB51}"/>
              </a:ext>
            </a:extLst>
          </p:cNvPr>
          <p:cNvCxnSpPr>
            <a:cxnSpLocks/>
          </p:cNvCxnSpPr>
          <p:nvPr/>
        </p:nvCxnSpPr>
        <p:spPr>
          <a:xfrm flipV="1">
            <a:off x="7920482" y="1796853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6638C5FD-D35C-1298-3A40-473C4939832F}"/>
              </a:ext>
            </a:extLst>
          </p:cNvPr>
          <p:cNvSpPr txBox="1"/>
          <p:nvPr/>
        </p:nvSpPr>
        <p:spPr>
          <a:xfrm rot="16783999">
            <a:off x="7353878" y="2275813"/>
            <a:ext cx="927876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VIEW</a:t>
            </a: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C7AE1524-5789-3A46-7320-D17B6F3D88DF}"/>
              </a:ext>
            </a:extLst>
          </p:cNvPr>
          <p:cNvCxnSpPr>
            <a:cxnSpLocks/>
          </p:cNvCxnSpPr>
          <p:nvPr/>
        </p:nvCxnSpPr>
        <p:spPr>
          <a:xfrm flipV="1">
            <a:off x="9084912" y="1677215"/>
            <a:ext cx="253651" cy="1504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552642E7-B831-BA8C-354B-ECDAB258BA43}"/>
              </a:ext>
            </a:extLst>
          </p:cNvPr>
          <p:cNvSpPr txBox="1"/>
          <p:nvPr/>
        </p:nvSpPr>
        <p:spPr>
          <a:xfrm rot="16726686">
            <a:off x="7879165" y="2072558"/>
            <a:ext cx="2065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/>
              <a:t>User Defined Functions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386CEDE2-CDC5-F3E4-8EAC-60130CC61745}"/>
              </a:ext>
            </a:extLst>
          </p:cNvPr>
          <p:cNvCxnSpPr>
            <a:cxnSpLocks/>
          </p:cNvCxnSpPr>
          <p:nvPr/>
        </p:nvCxnSpPr>
        <p:spPr>
          <a:xfrm flipH="1" flipV="1">
            <a:off x="9636372" y="3215407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87DAFEAA-6278-FCF1-5EE1-833379D92658}"/>
              </a:ext>
            </a:extLst>
          </p:cNvPr>
          <p:cNvSpPr txBox="1"/>
          <p:nvPr/>
        </p:nvSpPr>
        <p:spPr>
          <a:xfrm rot="15683183">
            <a:off x="9047306" y="3675658"/>
            <a:ext cx="927876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SPs</a:t>
            </a:r>
            <a:endParaRPr lang="de-DE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778E3BC6-BDBA-4664-DFC4-29CA4A45B798}"/>
              </a:ext>
            </a:extLst>
          </p:cNvPr>
          <p:cNvCxnSpPr>
            <a:cxnSpLocks/>
          </p:cNvCxnSpPr>
          <p:nvPr/>
        </p:nvCxnSpPr>
        <p:spPr>
          <a:xfrm flipV="1">
            <a:off x="11369208" y="1803454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6EA87568-F9F8-981D-C4AE-3C42D3F8B1DC}"/>
              </a:ext>
            </a:extLst>
          </p:cNvPr>
          <p:cNvSpPr txBox="1"/>
          <p:nvPr/>
        </p:nvSpPr>
        <p:spPr>
          <a:xfrm rot="16757062">
            <a:off x="9991735" y="1685764"/>
            <a:ext cx="28219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u="none" strike="noStrike" baseline="0" dirty="0">
                <a:solidFill>
                  <a:srgbClr val="000000"/>
                </a:solidFill>
                <a:latin typeface="HelveticaNeue-HeavyCond"/>
              </a:rPr>
              <a:t>Transactions and locking</a:t>
            </a:r>
            <a:endParaRPr lang="de-DE" sz="1600" b="1" dirty="0"/>
          </a:p>
        </p:txBody>
      </p: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2DCE1C5B-5866-67C9-0656-A753F1CFB490}"/>
              </a:ext>
            </a:extLst>
          </p:cNvPr>
          <p:cNvCxnSpPr>
            <a:cxnSpLocks/>
          </p:cNvCxnSpPr>
          <p:nvPr/>
        </p:nvCxnSpPr>
        <p:spPr>
          <a:xfrm flipH="1" flipV="1">
            <a:off x="10689927" y="3191407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0458D05F-7F4F-CB9F-A752-60BA11FF2766}"/>
              </a:ext>
            </a:extLst>
          </p:cNvPr>
          <p:cNvSpPr txBox="1"/>
          <p:nvPr/>
        </p:nvSpPr>
        <p:spPr>
          <a:xfrm rot="15683183">
            <a:off x="9922140" y="3768497"/>
            <a:ext cx="1336776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Triggers</a:t>
            </a:r>
            <a:endParaRPr lang="de-DE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4EDD1C5-7023-6278-5E48-82CE01B2F79D}"/>
              </a:ext>
            </a:extLst>
          </p:cNvPr>
          <p:cNvCxnSpPr>
            <a:cxnSpLocks/>
          </p:cNvCxnSpPr>
          <p:nvPr/>
        </p:nvCxnSpPr>
        <p:spPr>
          <a:xfrm flipV="1">
            <a:off x="10124999" y="1700756"/>
            <a:ext cx="253651" cy="1504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97092694-452B-AA70-FC3D-A3DE36ED7AB1}"/>
              </a:ext>
            </a:extLst>
          </p:cNvPr>
          <p:cNvSpPr txBox="1"/>
          <p:nvPr/>
        </p:nvSpPr>
        <p:spPr>
          <a:xfrm rot="16831849">
            <a:off x="9021984" y="2250124"/>
            <a:ext cx="20652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/>
              <a:t>Error Handling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09E0D2CF-EAE1-048C-0D22-B2DFC98FF746}"/>
              </a:ext>
            </a:extLst>
          </p:cNvPr>
          <p:cNvSpPr txBox="1"/>
          <p:nvPr/>
        </p:nvSpPr>
        <p:spPr>
          <a:xfrm rot="15609095">
            <a:off x="3542378" y="3848108"/>
            <a:ext cx="1788756" cy="358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PIVOT / UNPIVOT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6" name="Gerader Verbinder 7">
            <a:extLst>
              <a:ext uri="{FF2B5EF4-FFF2-40B4-BE49-F238E27FC236}">
                <a16:creationId xmlns:a16="http://schemas.microsoft.com/office/drawing/2014/main" id="{EA0FC0B3-34F8-763E-1BD7-0627ECB6252E}"/>
              </a:ext>
            </a:extLst>
          </p:cNvPr>
          <p:cNvCxnSpPr>
            <a:cxnSpLocks/>
          </p:cNvCxnSpPr>
          <p:nvPr/>
        </p:nvCxnSpPr>
        <p:spPr>
          <a:xfrm flipH="1" flipV="1">
            <a:off x="3508315" y="3198894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52">
            <a:extLst>
              <a:ext uri="{FF2B5EF4-FFF2-40B4-BE49-F238E27FC236}">
                <a16:creationId xmlns:a16="http://schemas.microsoft.com/office/drawing/2014/main" id="{42A84765-9FC5-0628-360A-1E80C6F37E21}"/>
              </a:ext>
            </a:extLst>
          </p:cNvPr>
          <p:cNvCxnSpPr>
            <a:cxnSpLocks/>
          </p:cNvCxnSpPr>
          <p:nvPr/>
        </p:nvCxnSpPr>
        <p:spPr>
          <a:xfrm flipH="1" flipV="1">
            <a:off x="11869614" y="3205603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53">
            <a:extLst>
              <a:ext uri="{FF2B5EF4-FFF2-40B4-BE49-F238E27FC236}">
                <a16:creationId xmlns:a16="http://schemas.microsoft.com/office/drawing/2014/main" id="{4333E424-6D64-C8EC-C52F-21025A49D2B6}"/>
              </a:ext>
            </a:extLst>
          </p:cNvPr>
          <p:cNvSpPr txBox="1"/>
          <p:nvPr/>
        </p:nvSpPr>
        <p:spPr>
          <a:xfrm rot="15683183">
            <a:off x="10585865" y="3984109"/>
            <a:ext cx="2213007" cy="6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Query Performance Tuning </a:t>
            </a:r>
            <a:endParaRPr lang="de-DE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5" name="Gerader Verbinder 54">
            <a:extLst>
              <a:ext uri="{FF2B5EF4-FFF2-40B4-BE49-F238E27FC236}">
                <a16:creationId xmlns:a16="http://schemas.microsoft.com/office/drawing/2014/main" id="{5EA70D07-5CCC-8D29-AFA8-C7E261FAF1C6}"/>
              </a:ext>
            </a:extLst>
          </p:cNvPr>
          <p:cNvCxnSpPr>
            <a:cxnSpLocks/>
          </p:cNvCxnSpPr>
          <p:nvPr/>
        </p:nvCxnSpPr>
        <p:spPr>
          <a:xfrm flipV="1">
            <a:off x="12381180" y="1692202"/>
            <a:ext cx="253651" cy="1504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feld 55">
            <a:extLst>
              <a:ext uri="{FF2B5EF4-FFF2-40B4-BE49-F238E27FC236}">
                <a16:creationId xmlns:a16="http://schemas.microsoft.com/office/drawing/2014/main" id="{C0E230CA-D085-5405-A30D-B17E9733417E}"/>
              </a:ext>
            </a:extLst>
          </p:cNvPr>
          <p:cNvSpPr txBox="1"/>
          <p:nvPr/>
        </p:nvSpPr>
        <p:spPr>
          <a:xfrm rot="16831849">
            <a:off x="11210672" y="1953559"/>
            <a:ext cx="2346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/>
              <a:t>Backup and Restoring</a:t>
            </a:r>
          </a:p>
        </p:txBody>
      </p:sp>
      <p:cxnSp>
        <p:nvCxnSpPr>
          <p:cNvPr id="35" name="Gerader Verbinder 52">
            <a:extLst>
              <a:ext uri="{FF2B5EF4-FFF2-40B4-BE49-F238E27FC236}">
                <a16:creationId xmlns:a16="http://schemas.microsoft.com/office/drawing/2014/main" id="{013D210C-4F92-B5CD-773E-85327DDAA5D2}"/>
              </a:ext>
            </a:extLst>
          </p:cNvPr>
          <p:cNvCxnSpPr>
            <a:cxnSpLocks/>
          </p:cNvCxnSpPr>
          <p:nvPr/>
        </p:nvCxnSpPr>
        <p:spPr>
          <a:xfrm flipH="1" flipV="1">
            <a:off x="12890114" y="3207528"/>
            <a:ext cx="223736" cy="1410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53">
            <a:extLst>
              <a:ext uri="{FF2B5EF4-FFF2-40B4-BE49-F238E27FC236}">
                <a16:creationId xmlns:a16="http://schemas.microsoft.com/office/drawing/2014/main" id="{08BD0081-1C96-E6EA-F8B7-836540D92CAE}"/>
              </a:ext>
            </a:extLst>
          </p:cNvPr>
          <p:cNvSpPr txBox="1"/>
          <p:nvPr/>
        </p:nvSpPr>
        <p:spPr>
          <a:xfrm rot="15683183">
            <a:off x="11753511" y="4056318"/>
            <a:ext cx="2213007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de-DE" sz="1600" b="1" dirty="0"/>
              <a:t>Principals and Users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2E534CA-51C8-C2E2-CBDE-36B470486731}"/>
              </a:ext>
            </a:extLst>
          </p:cNvPr>
          <p:cNvSpPr/>
          <p:nvPr/>
        </p:nvSpPr>
        <p:spPr>
          <a:xfrm>
            <a:off x="-503554" y="2479955"/>
            <a:ext cx="1148352" cy="13386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 up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660EEFD-E2B0-B090-2403-B28334175E46}"/>
              </a:ext>
            </a:extLst>
          </p:cNvPr>
          <p:cNvSpPr/>
          <p:nvPr/>
        </p:nvSpPr>
        <p:spPr>
          <a:xfrm>
            <a:off x="-2737026" y="2479955"/>
            <a:ext cx="1595621" cy="13386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Introduction</a:t>
            </a:r>
          </a:p>
        </p:txBody>
      </p:sp>
      <p:cxnSp>
        <p:nvCxnSpPr>
          <p:cNvPr id="45" name="Gerader Verbinder 21">
            <a:extLst>
              <a:ext uri="{FF2B5EF4-FFF2-40B4-BE49-F238E27FC236}">
                <a16:creationId xmlns:a16="http://schemas.microsoft.com/office/drawing/2014/main" id="{AEAB5031-F210-474B-763F-3F46AF243F8C}"/>
              </a:ext>
            </a:extLst>
          </p:cNvPr>
          <p:cNvCxnSpPr>
            <a:cxnSpLocks/>
          </p:cNvCxnSpPr>
          <p:nvPr/>
        </p:nvCxnSpPr>
        <p:spPr>
          <a:xfrm flipV="1">
            <a:off x="7202543" y="1855041"/>
            <a:ext cx="211542" cy="13297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41">
            <a:extLst>
              <a:ext uri="{FF2B5EF4-FFF2-40B4-BE49-F238E27FC236}">
                <a16:creationId xmlns:a16="http://schemas.microsoft.com/office/drawing/2014/main" id="{89140BCA-A6AE-B66B-6808-5698BA7EE2AA}"/>
              </a:ext>
            </a:extLst>
          </p:cNvPr>
          <p:cNvSpPr txBox="1"/>
          <p:nvPr/>
        </p:nvSpPr>
        <p:spPr>
          <a:xfrm rot="16783999">
            <a:off x="6083345" y="1868737"/>
            <a:ext cx="2010997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Dynamic Query</a:t>
            </a:r>
          </a:p>
        </p:txBody>
      </p:sp>
      <p:cxnSp>
        <p:nvCxnSpPr>
          <p:cNvPr id="15" name="Gerader Verbinder 52">
            <a:extLst>
              <a:ext uri="{FF2B5EF4-FFF2-40B4-BE49-F238E27FC236}">
                <a16:creationId xmlns:a16="http://schemas.microsoft.com/office/drawing/2014/main" id="{098AEED7-9185-110C-CBEA-007258E105CC}"/>
              </a:ext>
            </a:extLst>
          </p:cNvPr>
          <p:cNvCxnSpPr>
            <a:cxnSpLocks/>
          </p:cNvCxnSpPr>
          <p:nvPr/>
        </p:nvCxnSpPr>
        <p:spPr>
          <a:xfrm flipV="1">
            <a:off x="13142872" y="1796853"/>
            <a:ext cx="273758" cy="1375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53">
            <a:extLst>
              <a:ext uri="{FF2B5EF4-FFF2-40B4-BE49-F238E27FC236}">
                <a16:creationId xmlns:a16="http://schemas.microsoft.com/office/drawing/2014/main" id="{630AB132-00FC-1B98-87CF-0FEE6E199121}"/>
              </a:ext>
            </a:extLst>
          </p:cNvPr>
          <p:cNvSpPr txBox="1"/>
          <p:nvPr/>
        </p:nvSpPr>
        <p:spPr>
          <a:xfrm rot="16965947">
            <a:off x="12036369" y="1961520"/>
            <a:ext cx="2213007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de-DE" sz="1600" b="1" dirty="0"/>
              <a:t>SQL SERVER AGENT</a:t>
            </a:r>
          </a:p>
        </p:txBody>
      </p:sp>
    </p:spTree>
    <p:extLst>
      <p:ext uri="{BB962C8B-B14F-4D97-AF65-F5344CB8AC3E}">
        <p14:creationId xmlns:p14="http://schemas.microsoft.com/office/powerpoint/2010/main" val="1037170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B48EB-A3A0-B589-3504-C6ADF965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B4F67B33-CAB7-6448-C00B-06F417586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624288" y="676414"/>
            <a:ext cx="12192000" cy="379644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AD81C8F-2F97-EDCA-9802-64E0B092A57F}"/>
              </a:ext>
            </a:extLst>
          </p:cNvPr>
          <p:cNvSpPr txBox="1"/>
          <p:nvPr/>
        </p:nvSpPr>
        <p:spPr>
          <a:xfrm>
            <a:off x="5872480" y="-1888083"/>
            <a:ext cx="21209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05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Download SQL SERVER</a:t>
            </a:r>
          </a:p>
          <a:p>
            <a:pPr>
              <a:lnSpc>
                <a:spcPct val="100000"/>
              </a:lnSpc>
            </a:pPr>
            <a:r>
              <a:rPr lang="en-GB" sz="105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Download SSMS</a:t>
            </a:r>
          </a:p>
          <a:p>
            <a:pPr>
              <a:lnSpc>
                <a:spcPct val="100000"/>
              </a:lnSpc>
            </a:pPr>
            <a:r>
              <a:rPr lang="en-GB" sz="105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Connecting to a Database</a:t>
            </a:r>
            <a:endParaRPr lang="de-DE" sz="105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GB" sz="105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Load Data </a:t>
            </a:r>
          </a:p>
          <a:p>
            <a:pPr>
              <a:lnSpc>
                <a:spcPct val="100000"/>
              </a:lnSpc>
            </a:pPr>
            <a:r>
              <a:rPr lang="en-GB" sz="105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Restore Backup</a:t>
            </a:r>
            <a:endParaRPr lang="de-DE" sz="105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224FA9-76CF-DD61-F33C-4617DF9AA084}"/>
              </a:ext>
            </a:extLst>
          </p:cNvPr>
          <p:cNvSpPr txBox="1"/>
          <p:nvPr/>
        </p:nvSpPr>
        <p:spPr>
          <a:xfrm>
            <a:off x="7068946" y="-1188430"/>
            <a:ext cx="1546733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7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Select</a:t>
            </a:r>
            <a:endParaRPr lang="en-GB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Select * From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Select ColName1,ColName2,.. From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Renaming the Output Columns 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2F91953-0569-5A53-23B1-79A421E77EAC}"/>
              </a:ext>
            </a:extLst>
          </p:cNvPr>
          <p:cNvCxnSpPr>
            <a:cxnSpLocks/>
          </p:cNvCxnSpPr>
          <p:nvPr/>
        </p:nvCxnSpPr>
        <p:spPr>
          <a:xfrm flipV="1">
            <a:off x="6365240" y="-876367"/>
            <a:ext cx="756920" cy="576647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AC5B552-C9DB-2841-3B80-D44AF75D1FA9}"/>
              </a:ext>
            </a:extLst>
          </p:cNvPr>
          <p:cNvCxnSpPr>
            <a:cxnSpLocks/>
          </p:cNvCxnSpPr>
          <p:nvPr/>
        </p:nvCxnSpPr>
        <p:spPr>
          <a:xfrm flipV="1">
            <a:off x="6365240" y="-699349"/>
            <a:ext cx="756920" cy="411165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2DE73A8-D62F-1FE4-7F41-EA3F879289E8}"/>
              </a:ext>
            </a:extLst>
          </p:cNvPr>
          <p:cNvCxnSpPr>
            <a:cxnSpLocks/>
            <a:endCxn id="80" idx="1"/>
          </p:cNvCxnSpPr>
          <p:nvPr/>
        </p:nvCxnSpPr>
        <p:spPr>
          <a:xfrm flipV="1">
            <a:off x="6365240" y="-698552"/>
            <a:ext cx="703706" cy="41036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1DC8EF9-30D4-A915-E7BB-AE06AAD401A9}"/>
              </a:ext>
            </a:extLst>
          </p:cNvPr>
          <p:cNvCxnSpPr>
            <a:cxnSpLocks/>
          </p:cNvCxnSpPr>
          <p:nvPr/>
        </p:nvCxnSpPr>
        <p:spPr>
          <a:xfrm flipV="1">
            <a:off x="6365240" y="-345440"/>
            <a:ext cx="756920" cy="57256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AD45411-8034-0E04-4831-4446DC1F5D15}"/>
              </a:ext>
            </a:extLst>
          </p:cNvPr>
          <p:cNvCxnSpPr>
            <a:cxnSpLocks/>
          </p:cNvCxnSpPr>
          <p:nvPr/>
        </p:nvCxnSpPr>
        <p:spPr>
          <a:xfrm>
            <a:off x="6370892" y="-288184"/>
            <a:ext cx="709930" cy="154345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35FEF1C2-07EB-AD32-3A26-D65952A7A85D}"/>
              </a:ext>
            </a:extLst>
          </p:cNvPr>
          <p:cNvSpPr txBox="1"/>
          <p:nvPr/>
        </p:nvSpPr>
        <p:spPr>
          <a:xfrm>
            <a:off x="1526539" y="-674798"/>
            <a:ext cx="239696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7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Where</a:t>
            </a:r>
            <a:endParaRPr lang="en-GB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Operators</a:t>
            </a:r>
          </a:p>
          <a:p>
            <a:pPr algn="r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And / or / () </a:t>
            </a:r>
          </a:p>
          <a:p>
            <a:pPr algn="r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Negating a Search Condition (! / not)</a:t>
            </a:r>
          </a:p>
          <a:p>
            <a:pPr algn="r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Specifying A Range of Values (between / not Between)</a:t>
            </a:r>
          </a:p>
          <a:p>
            <a:pPr algn="r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Checking for NULL Values</a:t>
            </a:r>
          </a:p>
          <a:p>
            <a:pPr algn="r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Providing a List of Values (in / not in)</a:t>
            </a:r>
          </a:p>
          <a:p>
            <a:pPr algn="r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Performing Wildcard Searches (Like)</a:t>
            </a:r>
          </a:p>
          <a:p>
            <a:pPr algn="r"/>
            <a:r>
              <a:rPr lang="de-DE" sz="600" b="1" kern="100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EXISTS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4F41334-A245-4392-0123-C9DA6A62E901}"/>
              </a:ext>
            </a:extLst>
          </p:cNvPr>
          <p:cNvCxnSpPr>
            <a:cxnSpLocks/>
          </p:cNvCxnSpPr>
          <p:nvPr/>
        </p:nvCxnSpPr>
        <p:spPr>
          <a:xfrm flipH="1" flipV="1">
            <a:off x="3848100" y="-487117"/>
            <a:ext cx="312610" cy="425830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416F37-F804-B11F-F6F2-81490820FCDC}"/>
              </a:ext>
            </a:extLst>
          </p:cNvPr>
          <p:cNvCxnSpPr>
            <a:cxnSpLocks/>
          </p:cNvCxnSpPr>
          <p:nvPr/>
        </p:nvCxnSpPr>
        <p:spPr>
          <a:xfrm flipH="1" flipV="1">
            <a:off x="3848100" y="-393019"/>
            <a:ext cx="312610" cy="331732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5430053-7D8A-8574-5F1A-6F8A9B5A2DBA}"/>
              </a:ext>
            </a:extLst>
          </p:cNvPr>
          <p:cNvCxnSpPr>
            <a:cxnSpLocks/>
          </p:cNvCxnSpPr>
          <p:nvPr/>
        </p:nvCxnSpPr>
        <p:spPr>
          <a:xfrm flipH="1" flipV="1">
            <a:off x="3848100" y="-277543"/>
            <a:ext cx="312610" cy="212994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C0D8E48-2AE3-F43C-1A0E-08EDAFF5286D}"/>
              </a:ext>
            </a:extLst>
          </p:cNvPr>
          <p:cNvCxnSpPr>
            <a:cxnSpLocks/>
          </p:cNvCxnSpPr>
          <p:nvPr/>
        </p:nvCxnSpPr>
        <p:spPr>
          <a:xfrm flipH="1" flipV="1">
            <a:off x="3848100" y="-111677"/>
            <a:ext cx="312610" cy="4712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6F2A573-0E78-5023-1DC1-D15A7DB1F366}"/>
              </a:ext>
            </a:extLst>
          </p:cNvPr>
          <p:cNvCxnSpPr>
            <a:cxnSpLocks/>
          </p:cNvCxnSpPr>
          <p:nvPr/>
        </p:nvCxnSpPr>
        <p:spPr>
          <a:xfrm flipH="1">
            <a:off x="3848100" y="-64549"/>
            <a:ext cx="312610" cy="50232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3D6ABA9-AC61-468C-F441-09CE455298C6}"/>
              </a:ext>
            </a:extLst>
          </p:cNvPr>
          <p:cNvCxnSpPr>
            <a:cxnSpLocks/>
          </p:cNvCxnSpPr>
          <p:nvPr/>
        </p:nvCxnSpPr>
        <p:spPr>
          <a:xfrm flipH="1">
            <a:off x="3821430" y="-64549"/>
            <a:ext cx="339280" cy="139119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0D8F909-FC57-F91C-1604-2AC4A563FB3B}"/>
              </a:ext>
            </a:extLst>
          </p:cNvPr>
          <p:cNvCxnSpPr>
            <a:cxnSpLocks/>
          </p:cNvCxnSpPr>
          <p:nvPr/>
        </p:nvCxnSpPr>
        <p:spPr>
          <a:xfrm flipH="1">
            <a:off x="3848100" y="-64549"/>
            <a:ext cx="312610" cy="245725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2AAAA42-1678-05A2-83CE-EBBE0DA11D35}"/>
              </a:ext>
            </a:extLst>
          </p:cNvPr>
          <p:cNvCxnSpPr>
            <a:cxnSpLocks/>
          </p:cNvCxnSpPr>
          <p:nvPr/>
        </p:nvCxnSpPr>
        <p:spPr>
          <a:xfrm flipH="1" flipV="1">
            <a:off x="3806762" y="-175380"/>
            <a:ext cx="340296" cy="107869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BA9198DB-A4BB-9088-B666-F7A7D94D7228}"/>
              </a:ext>
            </a:extLst>
          </p:cNvPr>
          <p:cNvSpPr txBox="1"/>
          <p:nvPr/>
        </p:nvSpPr>
        <p:spPr>
          <a:xfrm>
            <a:off x="6516175" y="-31290"/>
            <a:ext cx="60960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7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Order By</a:t>
            </a: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Order by ColName1,ColName2,..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Order by 1, 2,.. </a:t>
            </a:r>
            <a:endParaRPr lang="en-US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Specifying Sort Order (ASC OR DESC)</a:t>
            </a:r>
          </a:p>
          <a:p>
            <a:r>
              <a:rPr lang="en-US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Randomly Sort Orders (NEWID())</a:t>
            </a:r>
          </a:p>
          <a:p>
            <a:r>
              <a:rPr lang="en-US" sz="600" b="1" kern="100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Unusual Sort Orders</a:t>
            </a:r>
            <a:endParaRPr lang="de-DE" sz="600" b="1" kern="100" dirty="0">
              <a:solidFill>
                <a:srgbClr val="FF000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Browsing a </a:t>
            </a:r>
            <a:r>
              <a:rPr lang="de-DE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Result</a:t>
            </a:r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Set: OFFSET  … FETCH …</a:t>
            </a:r>
          </a:p>
          <a:p>
            <a:pPr lvl="0"/>
            <a:r>
              <a:rPr lang="en-GB" sz="600" b="1" kern="100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ORDER BY (SELECT 1) OR ORDER BY (SELECT NULL</a:t>
            </a:r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SELECT   TOP N SELECT  TOP with ties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6AA8035B-1067-DC46-80D0-D38E8248157D}"/>
              </a:ext>
            </a:extLst>
          </p:cNvPr>
          <p:cNvCxnSpPr>
            <a:cxnSpLocks/>
          </p:cNvCxnSpPr>
          <p:nvPr/>
        </p:nvCxnSpPr>
        <p:spPr>
          <a:xfrm flipV="1">
            <a:off x="6336851" y="222471"/>
            <a:ext cx="236669" cy="12565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A10A2B7-BF13-3C14-DD80-4571A1194793}"/>
              </a:ext>
            </a:extLst>
          </p:cNvPr>
          <p:cNvCxnSpPr>
            <a:cxnSpLocks/>
          </p:cNvCxnSpPr>
          <p:nvPr/>
        </p:nvCxnSpPr>
        <p:spPr>
          <a:xfrm>
            <a:off x="6336851" y="250151"/>
            <a:ext cx="236669" cy="72429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4690CC9-D665-991A-21F7-C547A69324A5}"/>
              </a:ext>
            </a:extLst>
          </p:cNvPr>
          <p:cNvCxnSpPr>
            <a:cxnSpLocks/>
          </p:cNvCxnSpPr>
          <p:nvPr/>
        </p:nvCxnSpPr>
        <p:spPr>
          <a:xfrm>
            <a:off x="6365240" y="263921"/>
            <a:ext cx="208280" cy="139397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7C1290E5-6D41-5341-F1FE-E7A7AC1A7757}"/>
              </a:ext>
            </a:extLst>
          </p:cNvPr>
          <p:cNvCxnSpPr>
            <a:cxnSpLocks/>
          </p:cNvCxnSpPr>
          <p:nvPr/>
        </p:nvCxnSpPr>
        <p:spPr>
          <a:xfrm>
            <a:off x="6336851" y="248806"/>
            <a:ext cx="222474" cy="267407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A5EE7AB-01C1-422C-D297-B4E1DA42567E}"/>
              </a:ext>
            </a:extLst>
          </p:cNvPr>
          <p:cNvCxnSpPr>
            <a:cxnSpLocks/>
          </p:cNvCxnSpPr>
          <p:nvPr/>
        </p:nvCxnSpPr>
        <p:spPr>
          <a:xfrm>
            <a:off x="6336851" y="245324"/>
            <a:ext cx="208279" cy="367705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6F473F1-6669-C19C-92DD-FBDF6F503140}"/>
              </a:ext>
            </a:extLst>
          </p:cNvPr>
          <p:cNvCxnSpPr>
            <a:cxnSpLocks/>
          </p:cNvCxnSpPr>
          <p:nvPr/>
        </p:nvCxnSpPr>
        <p:spPr>
          <a:xfrm>
            <a:off x="6336851" y="275913"/>
            <a:ext cx="194084" cy="433932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28C960B-061A-DFFF-FA8B-629361EF0CA3}"/>
              </a:ext>
            </a:extLst>
          </p:cNvPr>
          <p:cNvCxnSpPr>
            <a:cxnSpLocks/>
          </p:cNvCxnSpPr>
          <p:nvPr/>
        </p:nvCxnSpPr>
        <p:spPr>
          <a:xfrm>
            <a:off x="6336851" y="263921"/>
            <a:ext cx="179324" cy="554750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8623A987-D9F9-14C1-7C34-937D160FF0B6}"/>
              </a:ext>
            </a:extLst>
          </p:cNvPr>
          <p:cNvSpPr txBox="1"/>
          <p:nvPr/>
        </p:nvSpPr>
        <p:spPr>
          <a:xfrm>
            <a:off x="1855205" y="181176"/>
            <a:ext cx="2204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Declaring Variables</a:t>
            </a:r>
          </a:p>
          <a:p>
            <a:pPr algn="r"/>
            <a:r>
              <a:rPr lang="en-US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Retrieving a Value into a Variable</a:t>
            </a:r>
          </a:p>
          <a:p>
            <a:pPr algn="r"/>
            <a:r>
              <a:rPr lang="en-US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IF…THEN…ELSE Statement  (EXISTS)</a:t>
            </a:r>
          </a:p>
          <a:p>
            <a:pPr algn="r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IIF</a:t>
            </a:r>
            <a:endParaRPr lang="en-US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CASE Expression</a:t>
            </a:r>
          </a:p>
          <a:p>
            <a:pPr algn="r"/>
            <a:r>
              <a:rPr lang="en-US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WHILE Statement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BCF2513-7817-E252-80C6-4BB72215F591}"/>
              </a:ext>
            </a:extLst>
          </p:cNvPr>
          <p:cNvCxnSpPr>
            <a:cxnSpLocks/>
          </p:cNvCxnSpPr>
          <p:nvPr/>
        </p:nvCxnSpPr>
        <p:spPr>
          <a:xfrm flipH="1" flipV="1">
            <a:off x="3965103" y="237591"/>
            <a:ext cx="251898" cy="359083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2F27DAD-A337-635D-F3DA-EC8B7D7759BE}"/>
              </a:ext>
            </a:extLst>
          </p:cNvPr>
          <p:cNvCxnSpPr>
            <a:cxnSpLocks/>
          </p:cNvCxnSpPr>
          <p:nvPr/>
        </p:nvCxnSpPr>
        <p:spPr>
          <a:xfrm flipH="1" flipV="1">
            <a:off x="3979298" y="361754"/>
            <a:ext cx="237703" cy="251275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EA8C59BA-AB33-A3F3-F7B1-0C374BE545EA}"/>
              </a:ext>
            </a:extLst>
          </p:cNvPr>
          <p:cNvCxnSpPr>
            <a:cxnSpLocks/>
          </p:cNvCxnSpPr>
          <p:nvPr/>
        </p:nvCxnSpPr>
        <p:spPr>
          <a:xfrm flipH="1" flipV="1">
            <a:off x="3991070" y="487391"/>
            <a:ext cx="204784" cy="12563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DACB2C1-7D5D-7435-F508-24F2ABB420E9}"/>
              </a:ext>
            </a:extLst>
          </p:cNvPr>
          <p:cNvCxnSpPr>
            <a:cxnSpLocks/>
          </p:cNvCxnSpPr>
          <p:nvPr/>
        </p:nvCxnSpPr>
        <p:spPr>
          <a:xfrm flipH="1">
            <a:off x="3979298" y="620961"/>
            <a:ext cx="237703" cy="21659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3C0B4280-5402-D319-7C60-F6EF0AB69E50}"/>
              </a:ext>
            </a:extLst>
          </p:cNvPr>
          <p:cNvCxnSpPr>
            <a:cxnSpLocks/>
          </p:cNvCxnSpPr>
          <p:nvPr/>
        </p:nvCxnSpPr>
        <p:spPr>
          <a:xfrm flipH="1">
            <a:off x="3991070" y="620961"/>
            <a:ext cx="225931" cy="143579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148EDE8C-2916-2DFD-58BC-89E489C9B50A}"/>
              </a:ext>
            </a:extLst>
          </p:cNvPr>
          <p:cNvSpPr txBox="1"/>
          <p:nvPr/>
        </p:nvSpPr>
        <p:spPr>
          <a:xfrm>
            <a:off x="2634651" y="1037150"/>
            <a:ext cx="13304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600" b="1" kern="100">
                <a:latin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pPr algn="r"/>
            <a:r>
              <a:rPr lang="de-DE" dirty="0"/>
              <a:t>Character (String) </a:t>
            </a:r>
            <a:r>
              <a:rPr lang="de-DE" dirty="0" err="1"/>
              <a:t>Functions</a:t>
            </a:r>
            <a:endParaRPr lang="de-DE" dirty="0"/>
          </a:p>
          <a:p>
            <a:pPr algn="r"/>
            <a:r>
              <a:rPr lang="de-DE" dirty="0" err="1"/>
              <a:t>Numeric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de-DE" dirty="0"/>
          </a:p>
          <a:p>
            <a:pPr algn="r"/>
            <a:r>
              <a:rPr lang="de-DE" dirty="0"/>
              <a:t>Date </a:t>
            </a:r>
            <a:r>
              <a:rPr lang="de-DE" dirty="0" err="1"/>
              <a:t>Functions</a:t>
            </a:r>
            <a:endParaRPr lang="de-DE" dirty="0"/>
          </a:p>
          <a:p>
            <a:pPr algn="r"/>
            <a:r>
              <a:rPr lang="de-DE" dirty="0" err="1"/>
              <a:t>Conversion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de-DE" dirty="0"/>
          </a:p>
          <a:p>
            <a:pPr algn="r"/>
            <a:r>
              <a:rPr lang="de-DE" dirty="0"/>
              <a:t>Null Handling </a:t>
            </a:r>
            <a:r>
              <a:rPr lang="de-DE" dirty="0" err="1"/>
              <a:t>Functions</a:t>
            </a:r>
            <a:endParaRPr lang="de-DE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096A074-C360-D60F-25B6-B0873D38D416}"/>
              </a:ext>
            </a:extLst>
          </p:cNvPr>
          <p:cNvCxnSpPr>
            <a:cxnSpLocks/>
          </p:cNvCxnSpPr>
          <p:nvPr/>
        </p:nvCxnSpPr>
        <p:spPr>
          <a:xfrm flipH="1">
            <a:off x="3965103" y="1382961"/>
            <a:ext cx="225931" cy="143579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2A2F34AE-51E8-E4F2-5470-7CC253D4BF5D}"/>
              </a:ext>
            </a:extLst>
          </p:cNvPr>
          <p:cNvCxnSpPr>
            <a:cxnSpLocks/>
          </p:cNvCxnSpPr>
          <p:nvPr/>
        </p:nvCxnSpPr>
        <p:spPr>
          <a:xfrm flipH="1">
            <a:off x="3893627" y="1382961"/>
            <a:ext cx="323374" cy="62967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D3E72C7B-7DE7-EFB0-55AB-402B1CD9BFED}"/>
              </a:ext>
            </a:extLst>
          </p:cNvPr>
          <p:cNvCxnSpPr>
            <a:cxnSpLocks/>
          </p:cNvCxnSpPr>
          <p:nvPr/>
        </p:nvCxnSpPr>
        <p:spPr>
          <a:xfrm flipH="1" flipV="1">
            <a:off x="3893627" y="1333832"/>
            <a:ext cx="323374" cy="49129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3792426-280F-8910-ABE4-01BA3C67090A}"/>
              </a:ext>
            </a:extLst>
          </p:cNvPr>
          <p:cNvCxnSpPr>
            <a:cxnSpLocks/>
          </p:cNvCxnSpPr>
          <p:nvPr/>
        </p:nvCxnSpPr>
        <p:spPr>
          <a:xfrm flipH="1" flipV="1">
            <a:off x="3916381" y="1220095"/>
            <a:ext cx="300620" cy="169785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8FE0DB30-B34A-4C02-AA84-607489E95C8C}"/>
              </a:ext>
            </a:extLst>
          </p:cNvPr>
          <p:cNvCxnSpPr>
            <a:cxnSpLocks/>
          </p:cNvCxnSpPr>
          <p:nvPr/>
        </p:nvCxnSpPr>
        <p:spPr>
          <a:xfrm flipH="1" flipV="1">
            <a:off x="3916381" y="1118373"/>
            <a:ext cx="300620" cy="252306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7E3F7851-83A4-64EB-E052-585CC72D8CD2}"/>
              </a:ext>
            </a:extLst>
          </p:cNvPr>
          <p:cNvSpPr txBox="1"/>
          <p:nvPr/>
        </p:nvSpPr>
        <p:spPr>
          <a:xfrm>
            <a:off x="6596129" y="1203456"/>
            <a:ext cx="1553841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7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Group By / Distinct</a:t>
            </a: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Having</a:t>
            </a:r>
            <a:r>
              <a:rPr lang="en-GB" sz="1800" b="1" dirty="0"/>
              <a:t> </a:t>
            </a:r>
            <a:endParaRPr lang="de-DE" sz="1800" dirty="0"/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STRING_AGG</a:t>
            </a: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DISTINCT</a:t>
            </a:r>
          </a:p>
          <a:p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Combination of Distinct and Count</a:t>
            </a:r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ACF2E5EA-EB24-C94B-DC5F-1E91EC637D18}"/>
              </a:ext>
            </a:extLst>
          </p:cNvPr>
          <p:cNvCxnSpPr>
            <a:cxnSpLocks/>
          </p:cNvCxnSpPr>
          <p:nvPr/>
        </p:nvCxnSpPr>
        <p:spPr>
          <a:xfrm flipV="1">
            <a:off x="6344231" y="1526540"/>
            <a:ext cx="269929" cy="17624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4C0DEC5-1AE9-352C-806C-8A6A1477326D}"/>
              </a:ext>
            </a:extLst>
          </p:cNvPr>
          <p:cNvCxnSpPr>
            <a:cxnSpLocks/>
          </p:cNvCxnSpPr>
          <p:nvPr/>
        </p:nvCxnSpPr>
        <p:spPr>
          <a:xfrm flipV="1">
            <a:off x="6355901" y="1656997"/>
            <a:ext cx="301617" cy="45791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508B1660-A5AA-11EA-CEE4-851D4EE27D06}"/>
              </a:ext>
            </a:extLst>
          </p:cNvPr>
          <p:cNvCxnSpPr>
            <a:cxnSpLocks/>
          </p:cNvCxnSpPr>
          <p:nvPr/>
        </p:nvCxnSpPr>
        <p:spPr>
          <a:xfrm>
            <a:off x="6344231" y="1702788"/>
            <a:ext cx="269929" cy="72672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8BF1102E-5AC9-BBFD-28C6-0609196C4030}"/>
              </a:ext>
            </a:extLst>
          </p:cNvPr>
          <p:cNvCxnSpPr>
            <a:cxnSpLocks/>
          </p:cNvCxnSpPr>
          <p:nvPr/>
        </p:nvCxnSpPr>
        <p:spPr>
          <a:xfrm>
            <a:off x="6344231" y="1702788"/>
            <a:ext cx="269929" cy="19270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37B96F5E-0B75-259E-A276-77191059B853}"/>
              </a:ext>
            </a:extLst>
          </p:cNvPr>
          <p:cNvCxnSpPr>
            <a:cxnSpLocks/>
          </p:cNvCxnSpPr>
          <p:nvPr/>
        </p:nvCxnSpPr>
        <p:spPr>
          <a:xfrm>
            <a:off x="6336851" y="946680"/>
            <a:ext cx="325894" cy="316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A516311C-A842-C973-0C3F-8C4C59CCFB68}"/>
              </a:ext>
            </a:extLst>
          </p:cNvPr>
          <p:cNvSpPr txBox="1"/>
          <p:nvPr/>
        </p:nvSpPr>
        <p:spPr>
          <a:xfrm>
            <a:off x="6621780" y="888441"/>
            <a:ext cx="1445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Select * FROM (Subquery)</a:t>
            </a:r>
            <a:endParaRPr lang="de-DE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21097471-F1D5-B92D-B261-82DA14CCE8AB}"/>
              </a:ext>
            </a:extLst>
          </p:cNvPr>
          <p:cNvSpPr txBox="1"/>
          <p:nvPr/>
        </p:nvSpPr>
        <p:spPr>
          <a:xfrm>
            <a:off x="6932930" y="2014246"/>
            <a:ext cx="9684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Window Functions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- ROW_NUMBER()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- RANK()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en-GB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Dense_Rank</a:t>
            </a:r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()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- NTILE()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Analytic Function 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- LEAD 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- LAG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en-GB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First_Value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en-GB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Last_Value</a:t>
            </a:r>
            <a:endParaRPr lang="en-GB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Aggregation </a:t>
            </a:r>
            <a:r>
              <a:rPr lang="de-DE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lvl="0" indent="-171450">
              <a:buFontTx/>
              <a:buChar char="-"/>
            </a:pP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8C7693B0-FEE8-956F-4B63-F855AD290A5D}"/>
              </a:ext>
            </a:extLst>
          </p:cNvPr>
          <p:cNvCxnSpPr>
            <a:cxnSpLocks/>
          </p:cNvCxnSpPr>
          <p:nvPr/>
        </p:nvCxnSpPr>
        <p:spPr>
          <a:xfrm flipV="1">
            <a:off x="6717093" y="2103702"/>
            <a:ext cx="290767" cy="224235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32F43314-AE85-2C27-0CF9-7B0BE102BBA7}"/>
              </a:ext>
            </a:extLst>
          </p:cNvPr>
          <p:cNvCxnSpPr>
            <a:cxnSpLocks/>
          </p:cNvCxnSpPr>
          <p:nvPr/>
        </p:nvCxnSpPr>
        <p:spPr>
          <a:xfrm>
            <a:off x="6709950" y="2352942"/>
            <a:ext cx="297910" cy="221696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7EDABD8B-A3C3-220B-C92A-99B2F8E5CCB5}"/>
              </a:ext>
            </a:extLst>
          </p:cNvPr>
          <p:cNvCxnSpPr>
            <a:cxnSpLocks/>
          </p:cNvCxnSpPr>
          <p:nvPr/>
        </p:nvCxnSpPr>
        <p:spPr>
          <a:xfrm>
            <a:off x="6725857" y="2352942"/>
            <a:ext cx="267524" cy="672067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F00F0A62-D726-4112-53D1-3AFD1DA1DD3B}"/>
              </a:ext>
            </a:extLst>
          </p:cNvPr>
          <p:cNvSpPr txBox="1"/>
          <p:nvPr/>
        </p:nvSpPr>
        <p:spPr>
          <a:xfrm>
            <a:off x="3138500" y="2614410"/>
            <a:ext cx="507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Create</a:t>
            </a:r>
          </a:p>
          <a:p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Alter</a:t>
            </a:r>
          </a:p>
          <a:p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DROP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28FF2A3B-E955-067D-FB87-0E54DEAD2503}"/>
              </a:ext>
            </a:extLst>
          </p:cNvPr>
          <p:cNvCxnSpPr>
            <a:cxnSpLocks/>
          </p:cNvCxnSpPr>
          <p:nvPr/>
        </p:nvCxnSpPr>
        <p:spPr>
          <a:xfrm flipH="1" flipV="1">
            <a:off x="3482661" y="2683124"/>
            <a:ext cx="594815" cy="21609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605480D-27BB-7074-DAB0-DE89699DC89C}"/>
              </a:ext>
            </a:extLst>
          </p:cNvPr>
          <p:cNvCxnSpPr>
            <a:cxnSpLocks/>
          </p:cNvCxnSpPr>
          <p:nvPr/>
        </p:nvCxnSpPr>
        <p:spPr>
          <a:xfrm flipH="1" flipV="1">
            <a:off x="3435363" y="2789746"/>
            <a:ext cx="641569" cy="126829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069C855A-8C38-7698-6D7F-DFE87E310304}"/>
              </a:ext>
            </a:extLst>
          </p:cNvPr>
          <p:cNvCxnSpPr>
            <a:cxnSpLocks/>
          </p:cNvCxnSpPr>
          <p:nvPr/>
        </p:nvCxnSpPr>
        <p:spPr>
          <a:xfrm flipH="1" flipV="1">
            <a:off x="3445768" y="2886744"/>
            <a:ext cx="652381" cy="29831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08086736-9D2B-A15B-939A-F67872EDC0A9}"/>
              </a:ext>
            </a:extLst>
          </p:cNvPr>
          <p:cNvSpPr txBox="1"/>
          <p:nvPr/>
        </p:nvSpPr>
        <p:spPr>
          <a:xfrm>
            <a:off x="6820970" y="3209100"/>
            <a:ext cx="768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Delete</a:t>
            </a:r>
          </a:p>
          <a:p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Insert</a:t>
            </a:r>
          </a:p>
          <a:p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Update</a:t>
            </a:r>
          </a:p>
          <a:p>
            <a:r>
              <a:rPr lang="de-DE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Merge</a:t>
            </a:r>
            <a:r>
              <a:rPr 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INTO</a:t>
            </a: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D128048C-2A95-052F-0DD0-4A5D74AE97FE}"/>
              </a:ext>
            </a:extLst>
          </p:cNvPr>
          <p:cNvCxnSpPr>
            <a:cxnSpLocks/>
          </p:cNvCxnSpPr>
          <p:nvPr/>
        </p:nvCxnSpPr>
        <p:spPr>
          <a:xfrm flipV="1">
            <a:off x="6437768" y="3323726"/>
            <a:ext cx="421137" cy="115084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D9477EEE-AC66-6EF0-E8DD-071E28EDAE49}"/>
              </a:ext>
            </a:extLst>
          </p:cNvPr>
          <p:cNvCxnSpPr>
            <a:cxnSpLocks/>
          </p:cNvCxnSpPr>
          <p:nvPr/>
        </p:nvCxnSpPr>
        <p:spPr>
          <a:xfrm flipV="1">
            <a:off x="6426513" y="3385739"/>
            <a:ext cx="475434" cy="6866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3A3A43B6-859A-48B3-F047-F09541C97E0A}"/>
              </a:ext>
            </a:extLst>
          </p:cNvPr>
          <p:cNvCxnSpPr>
            <a:cxnSpLocks/>
          </p:cNvCxnSpPr>
          <p:nvPr/>
        </p:nvCxnSpPr>
        <p:spPr>
          <a:xfrm>
            <a:off x="6440990" y="3454407"/>
            <a:ext cx="488955" cy="5824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046CA97C-106B-172E-FFF2-877503B2C1AE}"/>
              </a:ext>
            </a:extLst>
          </p:cNvPr>
          <p:cNvCxnSpPr>
            <a:cxnSpLocks/>
          </p:cNvCxnSpPr>
          <p:nvPr/>
        </p:nvCxnSpPr>
        <p:spPr>
          <a:xfrm>
            <a:off x="6426513" y="3454407"/>
            <a:ext cx="475434" cy="139076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2B630B45-1E80-70E7-8203-E0C24E16449F}"/>
              </a:ext>
            </a:extLst>
          </p:cNvPr>
          <p:cNvCxnSpPr>
            <a:cxnSpLocks/>
          </p:cNvCxnSpPr>
          <p:nvPr/>
        </p:nvCxnSpPr>
        <p:spPr>
          <a:xfrm flipH="1" flipV="1">
            <a:off x="3414287" y="3520717"/>
            <a:ext cx="594815" cy="21609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BC64452-537B-21BF-262F-6C1EA18A1F27}"/>
              </a:ext>
            </a:extLst>
          </p:cNvPr>
          <p:cNvSpPr txBox="1"/>
          <p:nvPr/>
        </p:nvSpPr>
        <p:spPr>
          <a:xfrm>
            <a:off x="3091598" y="3418454"/>
            <a:ext cx="50725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7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Joins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E02B0F97-C5AB-520A-8F81-6D96574A3A4B}"/>
              </a:ext>
            </a:extLst>
          </p:cNvPr>
          <p:cNvCxnSpPr>
            <a:cxnSpLocks/>
          </p:cNvCxnSpPr>
          <p:nvPr/>
        </p:nvCxnSpPr>
        <p:spPr>
          <a:xfrm flipH="1">
            <a:off x="3251200" y="3736815"/>
            <a:ext cx="725710" cy="53823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A65F7CA8-051D-C4A1-B64A-C3CEA0608771}"/>
              </a:ext>
            </a:extLst>
          </p:cNvPr>
          <p:cNvSpPr txBox="1"/>
          <p:nvPr/>
        </p:nvSpPr>
        <p:spPr>
          <a:xfrm>
            <a:off x="2346557" y="3720772"/>
            <a:ext cx="108210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7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UNION / UNION ALL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DEDB5C0C-E746-D678-6A10-148122BE75F6}"/>
              </a:ext>
            </a:extLst>
          </p:cNvPr>
          <p:cNvCxnSpPr>
            <a:cxnSpLocks/>
          </p:cNvCxnSpPr>
          <p:nvPr/>
        </p:nvCxnSpPr>
        <p:spPr>
          <a:xfrm flipH="1">
            <a:off x="3414287" y="3744636"/>
            <a:ext cx="576783" cy="246562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CCBF5C51-C12B-439A-49FE-E2D8A456305D}"/>
              </a:ext>
            </a:extLst>
          </p:cNvPr>
          <p:cNvSpPr txBox="1"/>
          <p:nvPr/>
        </p:nvSpPr>
        <p:spPr>
          <a:xfrm>
            <a:off x="2501005" y="3908944"/>
            <a:ext cx="108210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7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EXCEPT/ INTERSECT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B24B41F3-4983-B731-301F-F925517F76D7}"/>
              </a:ext>
            </a:extLst>
          </p:cNvPr>
          <p:cNvCxnSpPr>
            <a:cxnSpLocks/>
          </p:cNvCxnSpPr>
          <p:nvPr/>
        </p:nvCxnSpPr>
        <p:spPr>
          <a:xfrm flipH="1" flipV="1">
            <a:off x="2779750" y="3209100"/>
            <a:ext cx="382931" cy="273877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50047422-4CB9-DE29-1A74-2222230F1113}"/>
              </a:ext>
            </a:extLst>
          </p:cNvPr>
          <p:cNvSpPr txBox="1"/>
          <p:nvPr/>
        </p:nvSpPr>
        <p:spPr>
          <a:xfrm>
            <a:off x="2406648" y="3073568"/>
            <a:ext cx="50725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7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INNER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CB4FC63-85AE-F2F3-16C8-68EB839E90BB}"/>
              </a:ext>
            </a:extLst>
          </p:cNvPr>
          <p:cNvSpPr txBox="1"/>
          <p:nvPr/>
        </p:nvSpPr>
        <p:spPr>
          <a:xfrm>
            <a:off x="902565" y="2786072"/>
            <a:ext cx="107236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de-DE" sz="600" dirty="0"/>
              <a:t>INNER JOIN</a:t>
            </a:r>
          </a:p>
          <a:p>
            <a:pPr lvl="0" algn="r"/>
            <a:r>
              <a:rPr lang="de-DE" sz="600" dirty="0"/>
              <a:t>LEFT JOIN</a:t>
            </a:r>
          </a:p>
          <a:p>
            <a:pPr lvl="0" algn="r"/>
            <a:r>
              <a:rPr lang="de-DE" sz="600" dirty="0"/>
              <a:t>Right JOIN</a:t>
            </a:r>
          </a:p>
          <a:p>
            <a:pPr lvl="0" algn="r"/>
            <a:r>
              <a:rPr lang="de-DE" sz="600" dirty="0"/>
              <a:t>FULL JOIN </a:t>
            </a:r>
          </a:p>
          <a:p>
            <a:pPr lvl="0" algn="r"/>
            <a:r>
              <a:rPr lang="de-DE" sz="600" dirty="0"/>
              <a:t>CROSS JOIN</a:t>
            </a:r>
            <a:r>
              <a:rPr lang="de-DE" sz="700" dirty="0"/>
              <a:t> </a:t>
            </a:r>
          </a:p>
        </p:txBody>
      </p: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BB0400F1-5CEB-84DD-790C-D2F0DFF52233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1903363" y="2886744"/>
            <a:ext cx="503285" cy="286852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721B51C2-77AE-671A-0182-74AC4094A10B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1916315" y="3132302"/>
            <a:ext cx="490333" cy="41294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BB967E3B-A7AC-03FB-52EF-8D9440B0945E}"/>
              </a:ext>
            </a:extLst>
          </p:cNvPr>
          <p:cNvCxnSpPr>
            <a:cxnSpLocks/>
            <a:stCxn id="229" idx="1"/>
          </p:cNvCxnSpPr>
          <p:nvPr/>
        </p:nvCxnSpPr>
        <p:spPr>
          <a:xfrm flipH="1">
            <a:off x="1941570" y="3173596"/>
            <a:ext cx="465078" cy="69262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0267D481-3715-956F-9734-592203E27D08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1895246" y="2969193"/>
            <a:ext cx="511402" cy="204403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D57F878E-3DC4-64B3-1343-F68F356DB5BD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1909111" y="3054059"/>
            <a:ext cx="497537" cy="119537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Gerader Verbinder 52">
            <a:extLst>
              <a:ext uri="{FF2B5EF4-FFF2-40B4-BE49-F238E27FC236}">
                <a16:creationId xmlns:a16="http://schemas.microsoft.com/office/drawing/2014/main" id="{4D611D3C-C916-FA19-DBD0-10BFF7EB3CD5}"/>
              </a:ext>
            </a:extLst>
          </p:cNvPr>
          <p:cNvCxnSpPr>
            <a:cxnSpLocks/>
          </p:cNvCxnSpPr>
          <p:nvPr/>
        </p:nvCxnSpPr>
        <p:spPr>
          <a:xfrm rot="5578597" flipV="1">
            <a:off x="5826148" y="7889979"/>
            <a:ext cx="273758" cy="1375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feld 53">
            <a:extLst>
              <a:ext uri="{FF2B5EF4-FFF2-40B4-BE49-F238E27FC236}">
                <a16:creationId xmlns:a16="http://schemas.microsoft.com/office/drawing/2014/main" id="{AD72CC8E-34DF-BEA3-1E4E-99EF7E502505}"/>
              </a:ext>
            </a:extLst>
          </p:cNvPr>
          <p:cNvSpPr txBox="1"/>
          <p:nvPr/>
        </p:nvSpPr>
        <p:spPr>
          <a:xfrm rot="944544">
            <a:off x="4923233" y="8302940"/>
            <a:ext cx="2213007" cy="294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de-DE" sz="1200" b="1" dirty="0"/>
              <a:t>SQL SERVER AGENT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9F619DC6-2E5F-95B3-5C79-6C06EF3CFA8A}"/>
              </a:ext>
            </a:extLst>
          </p:cNvPr>
          <p:cNvCxnSpPr>
            <a:cxnSpLocks/>
          </p:cNvCxnSpPr>
          <p:nvPr/>
        </p:nvCxnSpPr>
        <p:spPr>
          <a:xfrm flipH="1">
            <a:off x="3263697" y="4894719"/>
            <a:ext cx="576783" cy="246562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AE943806-5CC8-D0F8-5770-0A1BAA3A0C09}"/>
              </a:ext>
            </a:extLst>
          </p:cNvPr>
          <p:cNvCxnSpPr>
            <a:cxnSpLocks/>
          </p:cNvCxnSpPr>
          <p:nvPr/>
        </p:nvCxnSpPr>
        <p:spPr>
          <a:xfrm flipH="1" flipV="1">
            <a:off x="3216228" y="4706547"/>
            <a:ext cx="624252" cy="182822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5D2A47A7-ECD9-0F30-F7D8-69783D611CCD}"/>
              </a:ext>
            </a:extLst>
          </p:cNvPr>
          <p:cNvSpPr txBox="1"/>
          <p:nvPr/>
        </p:nvSpPr>
        <p:spPr>
          <a:xfrm>
            <a:off x="2287924" y="4597903"/>
            <a:ext cx="108210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7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Non-</a:t>
            </a:r>
            <a:r>
              <a:rPr lang="de-DE" sz="7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Recursive</a:t>
            </a:r>
            <a:r>
              <a:rPr lang="de-DE" sz="7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CTE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336BFC7-AF81-9880-2C86-81F5822635C3}"/>
              </a:ext>
            </a:extLst>
          </p:cNvPr>
          <p:cNvSpPr txBox="1"/>
          <p:nvPr/>
        </p:nvSpPr>
        <p:spPr>
          <a:xfrm>
            <a:off x="2469986" y="5029748"/>
            <a:ext cx="108210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7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Recursive</a:t>
            </a:r>
            <a:r>
              <a:rPr lang="de-DE" sz="7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CTE</a:t>
            </a:r>
            <a:endParaRPr 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49D27B7-6C33-63DF-BAD1-367AD4E96E69}"/>
              </a:ext>
            </a:extLst>
          </p:cNvPr>
          <p:cNvSpPr txBox="1"/>
          <p:nvPr/>
        </p:nvSpPr>
        <p:spPr>
          <a:xfrm>
            <a:off x="6924967" y="5231817"/>
            <a:ext cx="15846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alt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Scalar</a:t>
            </a:r>
            <a:r>
              <a:rPr kumimoji="0" lang="de-DE" altLang="de-DE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altLang="de-DE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Functions</a:t>
            </a:r>
            <a:r>
              <a:rPr kumimoji="0" lang="de-DE" altLang="de-DE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sz="1100" b="1" dirty="0">
                <a:latin typeface="Arial" panose="020B0604020202020204" pitchFamily="34" charset="0"/>
              </a:rPr>
              <a:t> </a:t>
            </a:r>
            <a:r>
              <a:rPr lang="de-DE" alt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Table</a:t>
            </a:r>
            <a:r>
              <a:rPr lang="de-DE" altLang="de-DE" sz="1100" b="1" dirty="0">
                <a:latin typeface="Arial" panose="020B0604020202020204" pitchFamily="34" charset="0"/>
              </a:rPr>
              <a:t> </a:t>
            </a:r>
            <a:r>
              <a:rPr lang="de-DE" altLang="de-DE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Functions</a:t>
            </a:r>
            <a:endParaRPr lang="de-DE" alt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097C08BF-5C45-6D2A-CE05-E264A2D3FC03}"/>
              </a:ext>
            </a:extLst>
          </p:cNvPr>
          <p:cNvSpPr txBox="1"/>
          <p:nvPr/>
        </p:nvSpPr>
        <p:spPr>
          <a:xfrm>
            <a:off x="8149970" y="5399327"/>
            <a:ext cx="18322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Inline Table-</a:t>
            </a:r>
            <a:r>
              <a:rPr lang="de-DE" altLang="de-DE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Valued</a:t>
            </a:r>
            <a:r>
              <a:rPr lang="de-DE" alt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altLang="de-DE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Functions</a:t>
            </a:r>
            <a:endParaRPr lang="de-DE" alt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Multi-Statement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alt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Table-</a:t>
            </a:r>
            <a:r>
              <a:rPr lang="de-DE" altLang="de-DE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Valued</a:t>
            </a:r>
            <a:r>
              <a:rPr lang="de-DE" altLang="de-DE" sz="6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altLang="de-DE" sz="6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Functions</a:t>
            </a:r>
            <a:endParaRPr lang="de-DE" altLang="de-DE" sz="6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7010A7AF-20A5-90E3-DBBF-30D428B53281}"/>
              </a:ext>
            </a:extLst>
          </p:cNvPr>
          <p:cNvCxnSpPr>
            <a:cxnSpLocks/>
          </p:cNvCxnSpPr>
          <p:nvPr/>
        </p:nvCxnSpPr>
        <p:spPr>
          <a:xfrm flipV="1">
            <a:off x="6426513" y="5372512"/>
            <a:ext cx="475434" cy="194916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D6CA4C2C-F8EC-0469-F691-77B3EFC9FA4B}"/>
              </a:ext>
            </a:extLst>
          </p:cNvPr>
          <p:cNvCxnSpPr>
            <a:cxnSpLocks/>
          </p:cNvCxnSpPr>
          <p:nvPr/>
        </p:nvCxnSpPr>
        <p:spPr>
          <a:xfrm>
            <a:off x="6444437" y="5568585"/>
            <a:ext cx="548944" cy="31005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3B4E0F89-DA20-EAC3-B1B4-54AA04E460E9}"/>
              </a:ext>
            </a:extLst>
          </p:cNvPr>
          <p:cNvCxnSpPr>
            <a:cxnSpLocks/>
          </p:cNvCxnSpPr>
          <p:nvPr/>
        </p:nvCxnSpPr>
        <p:spPr>
          <a:xfrm>
            <a:off x="7679727" y="5530281"/>
            <a:ext cx="470243" cy="0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CCA2F125-6E55-B3D6-7A8C-8F780B348B30}"/>
              </a:ext>
            </a:extLst>
          </p:cNvPr>
          <p:cNvCxnSpPr>
            <a:cxnSpLocks/>
          </p:cNvCxnSpPr>
          <p:nvPr/>
        </p:nvCxnSpPr>
        <p:spPr>
          <a:xfrm>
            <a:off x="7666435" y="5589840"/>
            <a:ext cx="507920" cy="165165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11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61A5-0895-DB30-0584-61EEF9C8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Sutup</a:t>
            </a:r>
            <a:endParaRPr lang="de-D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D34EA-50F8-B34C-C354-65CE069C0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177" y="1690688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Download SQL SERVER</a:t>
            </a:r>
          </a:p>
          <a:p>
            <a:pPr>
              <a:lnSpc>
                <a:spcPct val="100000"/>
              </a:lnSpc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Download SSMS</a:t>
            </a:r>
          </a:p>
          <a:p>
            <a:pPr>
              <a:lnSpc>
                <a:spcPct val="100000"/>
              </a:lnSpc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Connecting to a Database</a:t>
            </a:r>
            <a:endParaRPr lang="de-DE" sz="18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Default database: master</a:t>
            </a:r>
          </a:p>
          <a:p>
            <a:pPr>
              <a:lnSpc>
                <a:spcPct val="100000"/>
              </a:lnSpc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Load Data </a:t>
            </a:r>
          </a:p>
          <a:p>
            <a:pPr>
              <a:lnSpc>
                <a:spcPct val="100000"/>
              </a:lnSpc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Restore Backup</a:t>
            </a:r>
            <a:endParaRPr lang="de-DE" sz="18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08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F4918-9B33-DBE0-FF6C-07DD0324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7177"/>
            <a:ext cx="10515600" cy="1325563"/>
          </a:xfrm>
        </p:spPr>
        <p:txBody>
          <a:bodyPr/>
          <a:lstStyle/>
          <a:p>
            <a:r>
              <a:rPr lang="de-DE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Retrieving (</a:t>
            </a:r>
            <a:r>
              <a:rPr lang="de-DE" b="1" dirty="0"/>
              <a:t>Select)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B1DEF9-43F5-18EE-325F-0072B841333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882034"/>
            <a:ext cx="1051560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Use statement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Retrieving all Columns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Retrieving Specific Columns</a:t>
            </a:r>
            <a:endParaRPr lang="de-DE" sz="18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Renaming the Output Columns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TOP N 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TOP wit ties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DISTINCT </a:t>
            </a:r>
          </a:p>
        </p:txBody>
      </p:sp>
    </p:spTree>
    <p:extLst>
      <p:ext uri="{BB962C8B-B14F-4D97-AF65-F5344CB8AC3E}">
        <p14:creationId xmlns:p14="http://schemas.microsoft.com/office/powerpoint/2010/main" val="101124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CEB120-E40A-4118-EBC9-B423214E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Filtering (</a:t>
            </a:r>
            <a:r>
              <a:rPr lang="de-DE" b="1" dirty="0" err="1"/>
              <a:t>Where</a:t>
            </a:r>
            <a:r>
              <a:rPr lang="de-DE" b="1" dirty="0"/>
              <a:t>)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35C9CD-1C65-4E40-324C-C831E29D5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b="1" dirty="0"/>
              <a:t>Filtering: Specifying the Rows to Be Returned</a:t>
            </a:r>
          </a:p>
          <a:p>
            <a:r>
              <a:rPr lang="en-GB" sz="1800" b="1" dirty="0"/>
              <a:t>Operators</a:t>
            </a:r>
          </a:p>
          <a:p>
            <a:r>
              <a:rPr lang="en-GB" sz="1800" b="1" dirty="0"/>
              <a:t>And / or / () </a:t>
            </a:r>
          </a:p>
          <a:p>
            <a:r>
              <a:rPr lang="en-GB" sz="1800" b="1" dirty="0"/>
              <a:t>Negating a Search Condition (! / not)</a:t>
            </a:r>
          </a:p>
          <a:p>
            <a:r>
              <a:rPr lang="en-GB" sz="1800" b="1" dirty="0"/>
              <a:t>Specifying A Range of Values (between / not Between)</a:t>
            </a:r>
          </a:p>
          <a:p>
            <a:r>
              <a:rPr lang="en-GB" sz="1800" b="1" dirty="0"/>
              <a:t>Checking for NULL Values</a:t>
            </a:r>
          </a:p>
          <a:p>
            <a:r>
              <a:rPr lang="en-GB" sz="1800" b="1" dirty="0"/>
              <a:t>Providing a List of Values (in / not in)</a:t>
            </a:r>
          </a:p>
          <a:p>
            <a:r>
              <a:rPr lang="en-GB" sz="1800" b="1" dirty="0"/>
              <a:t>Performing Wildcard Searches (Like)</a:t>
            </a:r>
          </a:p>
          <a:p>
            <a:r>
              <a:rPr lang="de-DE" sz="1800" b="1" dirty="0"/>
              <a:t>EXISTS</a:t>
            </a:r>
          </a:p>
          <a:p>
            <a:pPr marL="0" indent="0">
              <a:buNone/>
            </a:pPr>
            <a:endParaRPr lang="de-DE" sz="1800" dirty="0"/>
          </a:p>
          <a:p>
            <a:endParaRPr lang="de-DE" sz="1800" dirty="0"/>
          </a:p>
          <a:p>
            <a:endParaRPr lang="en-GB" sz="1800" b="1" dirty="0"/>
          </a:p>
          <a:p>
            <a:endParaRPr lang="de-DE" sz="1800" dirty="0"/>
          </a:p>
          <a:p>
            <a:endParaRPr lang="de-DE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ABBBC438-2A3F-E23B-4961-B5902935CA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405" y="1939608"/>
            <a:ext cx="3073400" cy="143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C546C10-5890-DF0F-841A-E2C4D4A265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445" y="4162584"/>
            <a:ext cx="3556000" cy="12807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1793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73A6A3-D44B-582E-827E-655A1AD1B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Sorting</a:t>
            </a:r>
            <a:r>
              <a:rPr lang="de-DE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(Order </a:t>
            </a:r>
            <a:r>
              <a:rPr lang="de-DE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</a:t>
            </a:r>
            <a:r>
              <a:rPr lang="de-DE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427B90-B9C5-BECF-965F-01F06D63B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978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GB" sz="1800" b="1" dirty="0"/>
              <a:t>Order by ColName</a:t>
            </a:r>
            <a:endParaRPr lang="de-DE" sz="1800" b="1" dirty="0"/>
          </a:p>
          <a:p>
            <a:pPr lvl="0"/>
            <a:r>
              <a:rPr lang="en-GB" sz="1800" b="1" dirty="0"/>
              <a:t>Order by 1, 2,3 </a:t>
            </a:r>
            <a:endParaRPr lang="en-US" sz="1800" b="1" dirty="0"/>
          </a:p>
          <a:p>
            <a:r>
              <a:rPr lang="en-US" sz="1800" b="1" dirty="0"/>
              <a:t>Specifying Sort Order (ASC OR DESC)</a:t>
            </a:r>
          </a:p>
          <a:p>
            <a:r>
              <a:rPr lang="en-US" sz="1800" b="1" dirty="0"/>
              <a:t>Randomly Sort Orders (NEWID())</a:t>
            </a:r>
          </a:p>
          <a:p>
            <a:r>
              <a:rPr lang="en-US" sz="1800" b="1" dirty="0"/>
              <a:t>Unusual Sort Orders</a:t>
            </a:r>
            <a:endParaRPr lang="de-DE" sz="1800" b="1" dirty="0"/>
          </a:p>
          <a:p>
            <a:r>
              <a:rPr lang="de-DE" sz="1800" b="1" dirty="0"/>
              <a:t>Browsing a </a:t>
            </a:r>
            <a:r>
              <a:rPr lang="de-DE" sz="1800" b="1" dirty="0" err="1"/>
              <a:t>Result</a:t>
            </a:r>
            <a:r>
              <a:rPr lang="de-DE" sz="1800" b="1" dirty="0"/>
              <a:t> Set: OFFSET  … FETCH …</a:t>
            </a:r>
          </a:p>
          <a:p>
            <a:pPr lvl="0"/>
            <a:r>
              <a:rPr lang="en-GB" sz="1800" b="1" dirty="0"/>
              <a:t>ORDER BY (SELECT 1) OR ORDER BY (SELECT NULL)</a:t>
            </a:r>
          </a:p>
          <a:p>
            <a:pPr lvl="0"/>
            <a:endParaRPr lang="de-DE" sz="1800" dirty="0"/>
          </a:p>
          <a:p>
            <a:endParaRPr lang="de-DE" sz="1800" dirty="0"/>
          </a:p>
          <a:p>
            <a:endParaRPr lang="de-DE" sz="1800" dirty="0"/>
          </a:p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53055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D85F5-2814-A90A-9AB5-C3F3C151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Programming</a:t>
            </a:r>
            <a:br>
              <a:rPr lang="de-DE" b="1" dirty="0"/>
            </a:br>
            <a:r>
              <a:rPr lang="de-DE" b="1" dirty="0"/>
              <a:t> Skills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FB06F0-5763-8750-2CB1-FEEA007B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Declaring Variables</a:t>
            </a:r>
          </a:p>
          <a:p>
            <a:r>
              <a:rPr lang="en-US" sz="1800" b="1" dirty="0"/>
              <a:t>Retrieving a Value into a Variable</a:t>
            </a:r>
          </a:p>
          <a:p>
            <a:r>
              <a:rPr lang="en-US" sz="1800" b="1" dirty="0"/>
              <a:t>IF…THEN…ELSE Statement  (EXISTS)</a:t>
            </a:r>
          </a:p>
          <a:p>
            <a:r>
              <a:rPr lang="en-GB" sz="1800" b="1" dirty="0"/>
              <a:t>IIF</a:t>
            </a:r>
            <a:endParaRPr lang="en-US" sz="1800" b="1" dirty="0"/>
          </a:p>
          <a:p>
            <a:r>
              <a:rPr lang="en-US" sz="1800" b="1" dirty="0"/>
              <a:t>CASE Expression</a:t>
            </a:r>
          </a:p>
          <a:p>
            <a:r>
              <a:rPr lang="en-US" sz="1800" b="1" dirty="0"/>
              <a:t>WHILE Statement</a:t>
            </a:r>
          </a:p>
          <a:p>
            <a:r>
              <a:rPr lang="en-US" sz="1800" b="1" dirty="0"/>
              <a:t>Going to a Label </a:t>
            </a:r>
          </a:p>
          <a:p>
            <a:r>
              <a:rPr lang="en-US" sz="1800" b="1" dirty="0"/>
              <a:t>Pausing Execution (WAITFOR DELAY  / WAITFOR TIME )</a:t>
            </a:r>
          </a:p>
          <a:p>
            <a:pPr marL="0" indent="0">
              <a:buNone/>
            </a:pPr>
            <a:endParaRPr lang="de-DE" sz="1400" b="1" dirty="0"/>
          </a:p>
        </p:txBody>
      </p:sp>
    </p:spTree>
    <p:extLst>
      <p:ext uri="{BB962C8B-B14F-4D97-AF65-F5344CB8AC3E}">
        <p14:creationId xmlns:p14="http://schemas.microsoft.com/office/powerpoint/2010/main" val="399958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F7DCB-A5A8-17A9-6878-AA2C93FCE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Subquery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338722-08A7-7296-BC10-2D4E3E026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z="1800" b="1" dirty="0"/>
              <a:t>Subquery</a:t>
            </a:r>
          </a:p>
          <a:p>
            <a:pPr lvl="0"/>
            <a:r>
              <a:rPr lang="en-GB" sz="1800" b="1" dirty="0"/>
              <a:t>The rules in subquery</a:t>
            </a:r>
          </a:p>
          <a:p>
            <a:pPr lvl="0"/>
            <a:r>
              <a:rPr lang="en-GB" sz="1800" b="1" dirty="0"/>
              <a:t>SELECT TOP 100 .. FROM </a:t>
            </a:r>
            <a:endParaRPr lang="de-DE" sz="1800" b="1" dirty="0"/>
          </a:p>
          <a:p>
            <a:r>
              <a:rPr lang="en-GB" sz="1800" b="1" dirty="0"/>
              <a:t>SELECT TOP 100 Percent</a:t>
            </a:r>
          </a:p>
          <a:p>
            <a:r>
              <a:rPr lang="en-GB" sz="1800" b="1" dirty="0" err="1"/>
              <a:t>SELECt</a:t>
            </a:r>
            <a:r>
              <a:rPr lang="en-GB" sz="1800" b="1" dirty="0"/>
              <a:t> TOP (@A) correct SELECT TOP @A Incorrect</a:t>
            </a:r>
            <a:endParaRPr lang="de-DE" sz="1800" b="1" dirty="0"/>
          </a:p>
          <a:p>
            <a:endParaRPr lang="de-DE" sz="1800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6701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CFF697-AB9B-3965-1B5B-B9B46914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Transformation  </a:t>
            </a:r>
            <a:r>
              <a:rPr lang="de-DE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0E6700-3CC1-6058-80B4-CB748E7DE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sz="1800" b="1" dirty="0"/>
              <a:t>CAST/ </a:t>
            </a:r>
            <a:r>
              <a:rPr lang="de-DE" sz="1800" b="1" dirty="0" err="1"/>
              <a:t>TRY_Cast</a:t>
            </a:r>
            <a:endParaRPr lang="de-DE" sz="1800" b="1" dirty="0"/>
          </a:p>
          <a:p>
            <a:r>
              <a:rPr lang="de-DE" sz="1800" b="1" dirty="0"/>
              <a:t>DATE</a:t>
            </a:r>
          </a:p>
          <a:p>
            <a:pPr marL="457200" lvl="1" indent="0">
              <a:buNone/>
            </a:pPr>
            <a:r>
              <a:rPr lang="en-GB" sz="1600" dirty="0"/>
              <a:t>DATE / DATETIME / DATETIME2/ TIME</a:t>
            </a:r>
            <a:endParaRPr lang="de-DE" sz="1600" dirty="0"/>
          </a:p>
          <a:p>
            <a:pPr marL="457200" lvl="1" indent="0">
              <a:buNone/>
            </a:pPr>
            <a:r>
              <a:rPr lang="en-GB" sz="1600" dirty="0"/>
              <a:t>DATEADD / DATEDIFF / YEAR () / MONTH () / DAY () / QUARTEL </a:t>
            </a:r>
            <a:endParaRPr lang="de-DE" sz="1600" dirty="0"/>
          </a:p>
          <a:p>
            <a:pPr marL="457200" lvl="1" indent="0">
              <a:buNone/>
            </a:pPr>
            <a:r>
              <a:rPr lang="en-GB" sz="1600" dirty="0"/>
              <a:t>CONVERT</a:t>
            </a:r>
            <a:endParaRPr lang="de-DE" sz="1800" b="1" dirty="0"/>
          </a:p>
          <a:p>
            <a:r>
              <a:rPr lang="en-GB" sz="1800" b="1" dirty="0"/>
              <a:t>Right/ Left Function </a:t>
            </a:r>
            <a:endParaRPr lang="de-DE" sz="1800" b="1" dirty="0"/>
          </a:p>
          <a:p>
            <a:r>
              <a:rPr lang="de-DE" sz="1800" b="1" dirty="0"/>
              <a:t>AGGREGATE</a:t>
            </a:r>
          </a:p>
          <a:p>
            <a:r>
              <a:rPr lang="de-DE" sz="1800" b="1" dirty="0"/>
              <a:t>CONCAT</a:t>
            </a:r>
          </a:p>
          <a:p>
            <a:r>
              <a:rPr lang="de-DE" sz="1800" b="1" dirty="0"/>
              <a:t>ISNULL, NULLIF, COALESCE 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Make a new Column: Combine Two Tables Building a Column from an Expression (+ , </a:t>
            </a:r>
            <a:r>
              <a:rPr lang="en-GB" sz="1800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Concat</a:t>
            </a:r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050" b="1" dirty="0"/>
              <a:t>CONCAT / +</a:t>
            </a:r>
            <a:endParaRPr lang="de-DE" sz="105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GB" sz="1050" dirty="0"/>
              <a:t>DIG + DIG</a:t>
            </a:r>
            <a:endParaRPr lang="de-DE" sz="105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GB" sz="1050" dirty="0"/>
              <a:t>STR + DIG</a:t>
            </a:r>
            <a:endParaRPr lang="de-DE" sz="105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GB" sz="1050" dirty="0"/>
              <a:t>STR + STR</a:t>
            </a:r>
            <a:endParaRPr lang="de-DE" sz="1050" dirty="0"/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de-DE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* / + - </a:t>
            </a:r>
          </a:p>
          <a:p>
            <a:pPr marL="0" indent="0">
              <a:buNone/>
            </a:pPr>
            <a:endParaRPr lang="de-DE" sz="1800" b="1" dirty="0"/>
          </a:p>
          <a:p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66876-6C42-183E-EB00-A1898A0D3DD3}"/>
              </a:ext>
            </a:extLst>
          </p:cNvPr>
          <p:cNvSpPr txBox="1"/>
          <p:nvPr/>
        </p:nvSpPr>
        <p:spPr>
          <a:xfrm>
            <a:off x="8131629" y="157349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Character (String) </a:t>
            </a:r>
            <a:r>
              <a:rPr lang="de-DE" b="1" dirty="0" err="1"/>
              <a:t>Functions</a:t>
            </a:r>
            <a:endParaRPr lang="de-DE" b="1" dirty="0"/>
          </a:p>
          <a:p>
            <a:r>
              <a:rPr lang="de-DE" b="1" dirty="0" err="1"/>
              <a:t>Numeric</a:t>
            </a:r>
            <a:r>
              <a:rPr lang="de-DE" b="1" dirty="0"/>
              <a:t> </a:t>
            </a:r>
            <a:r>
              <a:rPr lang="de-DE" b="1" dirty="0" err="1"/>
              <a:t>Functions</a:t>
            </a:r>
            <a:endParaRPr lang="de-DE" b="1" dirty="0"/>
          </a:p>
          <a:p>
            <a:r>
              <a:rPr lang="de-DE" b="1" dirty="0"/>
              <a:t>Date </a:t>
            </a:r>
            <a:r>
              <a:rPr lang="de-DE" b="1" dirty="0" err="1"/>
              <a:t>Functions</a:t>
            </a:r>
            <a:endParaRPr lang="de-DE" b="1" dirty="0"/>
          </a:p>
          <a:p>
            <a:r>
              <a:rPr lang="de-DE" b="1" dirty="0" err="1"/>
              <a:t>Conversion</a:t>
            </a:r>
            <a:r>
              <a:rPr lang="de-DE" b="1" dirty="0"/>
              <a:t> </a:t>
            </a:r>
            <a:r>
              <a:rPr lang="de-DE" b="1" dirty="0" err="1"/>
              <a:t>Functions</a:t>
            </a:r>
            <a:endParaRPr lang="de-DE" b="1" dirty="0"/>
          </a:p>
          <a:p>
            <a:r>
              <a:rPr lang="de-DE" b="1" dirty="0"/>
              <a:t>Null Handling </a:t>
            </a:r>
            <a:r>
              <a:rPr lang="de-DE" b="1" dirty="0" err="1"/>
              <a:t>Functions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2222993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7E2BA-14BB-8997-9476-3833307D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b="1" dirty="0"/>
              <a:t>Grouping and </a:t>
            </a:r>
            <a:br>
              <a:rPr lang="en-US" b="1" dirty="0"/>
            </a:br>
            <a:r>
              <a:rPr lang="en-US" b="1" dirty="0"/>
              <a:t>Summarizing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047640-3521-3B6C-485C-0986B4F6C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z="1800" b="1" dirty="0"/>
              <a:t>Having </a:t>
            </a:r>
            <a:endParaRPr lang="de-DE" sz="1800" dirty="0"/>
          </a:p>
          <a:p>
            <a:pPr lvl="0"/>
            <a:r>
              <a:rPr lang="en-GB" sz="1800" b="1" dirty="0"/>
              <a:t>STRING_AGG</a:t>
            </a:r>
          </a:p>
          <a:p>
            <a:pPr lvl="0"/>
            <a:r>
              <a:rPr lang="en-GB" sz="1800" b="1" dirty="0"/>
              <a:t>DISTINCT</a:t>
            </a:r>
          </a:p>
          <a:p>
            <a:r>
              <a:rPr lang="en-GB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Combination of Distinct and Count</a:t>
            </a:r>
            <a:r>
              <a:rPr lang="de-DE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de-DE" sz="18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7373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5C10DC-7081-D222-3991-5E87690F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Querying from Multiple Tables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ACD06D-00CF-A0D7-2057-AA0392403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de-DE" sz="2400" b="1" dirty="0" err="1"/>
              <a:t>Join</a:t>
            </a:r>
            <a:endParaRPr lang="de-DE" sz="1800" b="1" dirty="0"/>
          </a:p>
          <a:p>
            <a:pPr lvl="0"/>
            <a:r>
              <a:rPr lang="de-DE" sz="1800" b="1" dirty="0"/>
              <a:t>INNER JOIN</a:t>
            </a:r>
          </a:p>
          <a:p>
            <a:pPr lvl="0"/>
            <a:r>
              <a:rPr lang="de-DE" sz="1800" b="1" dirty="0"/>
              <a:t>LEFT JOIN</a:t>
            </a:r>
          </a:p>
          <a:p>
            <a:pPr lvl="0"/>
            <a:r>
              <a:rPr lang="de-DE" sz="1800" b="1" dirty="0"/>
              <a:t>Right JOIN</a:t>
            </a:r>
          </a:p>
          <a:p>
            <a:pPr lvl="0"/>
            <a:r>
              <a:rPr lang="de-DE" sz="1800" b="1" dirty="0"/>
              <a:t>FULL JOIN </a:t>
            </a:r>
          </a:p>
          <a:p>
            <a:pPr lvl="0"/>
            <a:r>
              <a:rPr lang="de-DE" sz="1800" b="1" dirty="0"/>
              <a:t>CROSS JOIN </a:t>
            </a:r>
          </a:p>
          <a:p>
            <a:pPr marL="0" lvl="0" indent="0">
              <a:buNone/>
            </a:pPr>
            <a:r>
              <a:rPr lang="de-DE" sz="2400" dirty="0"/>
              <a:t>(</a:t>
            </a:r>
          </a:p>
          <a:p>
            <a:pPr lvl="0"/>
            <a:r>
              <a:rPr lang="en-GB" sz="1900" dirty="0"/>
              <a:t>ON is equivalent with Where / NULL VALUES as Join Key</a:t>
            </a:r>
            <a:endParaRPr lang="de-DE" sz="1600" dirty="0"/>
          </a:p>
          <a:p>
            <a:pPr marL="0" lvl="0" indent="0">
              <a:buNone/>
            </a:pPr>
            <a:r>
              <a:rPr lang="de-DE" sz="2400" dirty="0"/>
              <a:t>)</a:t>
            </a:r>
          </a:p>
          <a:p>
            <a:pPr marL="0" lvl="0" indent="0">
              <a:buNone/>
            </a:pPr>
            <a:r>
              <a:rPr lang="de-DE" sz="2400" b="1" dirty="0"/>
              <a:t>UNION/UNION ALL</a:t>
            </a:r>
          </a:p>
          <a:p>
            <a:pPr marL="0" lvl="0" indent="0">
              <a:buNone/>
            </a:pPr>
            <a:endParaRPr lang="de-DE" sz="2400" b="1" dirty="0"/>
          </a:p>
          <a:p>
            <a:pPr marL="0" lvl="0" indent="0">
              <a:buNone/>
            </a:pPr>
            <a:r>
              <a:rPr lang="de-DE" sz="2400" b="1" dirty="0"/>
              <a:t>EXCEPT/INTERSECT</a:t>
            </a:r>
          </a:p>
        </p:txBody>
      </p:sp>
    </p:spTree>
    <p:extLst>
      <p:ext uri="{BB962C8B-B14F-4D97-AF65-F5344CB8AC3E}">
        <p14:creationId xmlns:p14="http://schemas.microsoft.com/office/powerpoint/2010/main" val="231637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DF7CA-21DE-4CB5-8D19-F736477E2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Modelling</a:t>
            </a:r>
            <a:br>
              <a:rPr lang="de-D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73454-882E-022A-DC8A-62E76AFA4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b="1" dirty="0"/>
              <a:t>INDEX / HIP TABLE / Clustered / Non-Clustered Index </a:t>
            </a:r>
            <a:endParaRPr lang="de-DE" sz="1800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7388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838F89-B1F4-EE9D-232F-D235336FE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Data Definition</a:t>
            </a:r>
            <a:br>
              <a:rPr lang="de-DE" b="1" dirty="0"/>
            </a:br>
            <a:r>
              <a:rPr lang="de-DE" b="1" dirty="0"/>
              <a:t> Language (DDL)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071B2-EDB8-EE1D-2DB3-D306DC2E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b="1" dirty="0"/>
              <a:t>CREATE</a:t>
            </a:r>
          </a:p>
          <a:p>
            <a:pPr marL="457200" lvl="1" indent="0">
              <a:buNone/>
            </a:pPr>
            <a:r>
              <a:rPr lang="de-DE" sz="1000" dirty="0"/>
              <a:t>     (</a:t>
            </a:r>
            <a:r>
              <a:rPr lang="en-GB" sz="1600" dirty="0"/>
              <a:t>Variable / TABLE Variable</a:t>
            </a:r>
            <a:r>
              <a:rPr lang="de-DE" sz="1000" dirty="0"/>
              <a:t>)</a:t>
            </a:r>
          </a:p>
          <a:p>
            <a:pPr lvl="1"/>
            <a:r>
              <a:rPr lang="en-GB" sz="1600" dirty="0"/>
              <a:t>Sharp Table </a:t>
            </a:r>
            <a:endParaRPr lang="de-DE" sz="1600" dirty="0"/>
          </a:p>
          <a:p>
            <a:pPr lvl="1"/>
            <a:r>
              <a:rPr lang="en-GB" sz="1600" dirty="0"/>
              <a:t>#T</a:t>
            </a:r>
            <a:endParaRPr lang="de-DE" sz="1600" dirty="0"/>
          </a:p>
          <a:p>
            <a:pPr lvl="1"/>
            <a:r>
              <a:rPr lang="en-GB" sz="1600" dirty="0"/>
              <a:t>Difference Between #T and ##T</a:t>
            </a:r>
            <a:endParaRPr lang="de-DE" sz="1600" dirty="0"/>
          </a:p>
          <a:p>
            <a:pPr lvl="1"/>
            <a:r>
              <a:rPr lang="en-GB" sz="1600" dirty="0"/>
              <a:t>IDENTITY and SELECT * into #t from T1 (Transfer of Identity </a:t>
            </a:r>
            <a:r>
              <a:rPr lang="en-GB" sz="1600" dirty="0" err="1"/>
              <a:t>fom</a:t>
            </a:r>
            <a:r>
              <a:rPr lang="en-GB" sz="1600" dirty="0"/>
              <a:t> T1 to #T) How to avoid </a:t>
            </a:r>
            <a:endParaRPr lang="de-DE" sz="1600" dirty="0"/>
          </a:p>
          <a:p>
            <a:pPr lvl="1"/>
            <a:r>
              <a:rPr lang="en-GB" sz="1600" dirty="0"/>
              <a:t>Further data into #T using Insert </a:t>
            </a:r>
            <a:endParaRPr lang="de-DE" sz="1600" dirty="0"/>
          </a:p>
          <a:p>
            <a:pPr lvl="1"/>
            <a:r>
              <a:rPr lang="en-GB" sz="1600" dirty="0"/>
              <a:t>SELECT * FROM </a:t>
            </a:r>
            <a:r>
              <a:rPr lang="en-GB" sz="1600" dirty="0" err="1"/>
              <a:t>tempdb.sys.tables</a:t>
            </a:r>
            <a:r>
              <a:rPr lang="en-GB" sz="1600" dirty="0"/>
              <a:t> where name like ‘%temp%’</a:t>
            </a:r>
            <a:endParaRPr lang="de-DE" sz="1600" dirty="0"/>
          </a:p>
          <a:p>
            <a:pPr lvl="1"/>
            <a:r>
              <a:rPr lang="en-GB" sz="1600" dirty="0"/>
              <a:t>Identity(int,1,1) AS RW,. Into #Temp From ….</a:t>
            </a:r>
            <a:endParaRPr lang="de-DE" sz="1400" dirty="0"/>
          </a:p>
          <a:p>
            <a:r>
              <a:rPr lang="de-DE" sz="1800" b="1" dirty="0"/>
              <a:t>Alter</a:t>
            </a:r>
          </a:p>
          <a:p>
            <a:r>
              <a:rPr lang="de-DE" sz="1800" b="1" dirty="0"/>
              <a:t>DROP</a:t>
            </a:r>
          </a:p>
          <a:p>
            <a:r>
              <a:rPr lang="de-DE" sz="1800" b="1" dirty="0">
                <a:solidFill>
                  <a:srgbClr val="FF0000"/>
                </a:solidFill>
              </a:rPr>
              <a:t>RENAME</a:t>
            </a:r>
          </a:p>
          <a:p>
            <a:r>
              <a:rPr lang="de-DE" sz="1800" b="1" dirty="0">
                <a:solidFill>
                  <a:srgbClr val="FF0000"/>
                </a:solidFill>
              </a:rPr>
              <a:t>TRUNCATE(</a:t>
            </a:r>
            <a:r>
              <a:rPr lang="en-GB" sz="1600" b="1" dirty="0">
                <a:solidFill>
                  <a:srgbClr val="FF0000"/>
                </a:solidFill>
              </a:rPr>
              <a:t>Truncate does not work on Header Table. The Table should be detailed </a:t>
            </a:r>
            <a:r>
              <a:rPr lang="de-DE" sz="11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81758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E66D52-E22E-E4BA-D69F-593F86A1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Data Manipulation Language (DML)</a:t>
            </a:r>
            <a:br>
              <a:rPr lang="de-DE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B23CF4-92DF-2C0E-9082-F010CA780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sz="1800" b="1" dirty="0"/>
              <a:t>Insert</a:t>
            </a:r>
          </a:p>
          <a:p>
            <a:pPr lvl="1"/>
            <a:r>
              <a:rPr lang="de-DE" sz="1400" dirty="0"/>
              <a:t>INSERT / Batch INSERT / BULK INSERT</a:t>
            </a:r>
          </a:p>
          <a:p>
            <a:pPr lvl="1"/>
            <a:r>
              <a:rPr lang="de-DE" sz="1400" dirty="0"/>
              <a:t>Default Value</a:t>
            </a:r>
          </a:p>
          <a:p>
            <a:pPr lvl="1"/>
            <a:r>
              <a:rPr lang="de-DE" sz="1400" dirty="0"/>
              <a:t>Overriding an IDENTITY </a:t>
            </a:r>
            <a:r>
              <a:rPr lang="de-DE" sz="1400" dirty="0" err="1"/>
              <a:t>Column</a:t>
            </a:r>
            <a:endParaRPr lang="de-DE" sz="1400" dirty="0"/>
          </a:p>
          <a:p>
            <a:pPr lvl="2"/>
            <a:r>
              <a:rPr lang="de-DE" sz="1000" dirty="0"/>
              <a:t>SET IDENTITY_INSERT</a:t>
            </a:r>
          </a:p>
          <a:p>
            <a:pPr lvl="1"/>
            <a:r>
              <a:rPr lang="de-DE" sz="1400" dirty="0"/>
              <a:t>SCOPE_IDENTITY</a:t>
            </a:r>
          </a:p>
          <a:p>
            <a:pPr lvl="1"/>
            <a:r>
              <a:rPr lang="de-DE" sz="1400" dirty="0"/>
              <a:t>Go INSERT …. GO (100)</a:t>
            </a:r>
            <a:endParaRPr lang="de-DE" sz="1800" dirty="0"/>
          </a:p>
          <a:p>
            <a:r>
              <a:rPr lang="de-DE" sz="1800" b="1" dirty="0"/>
              <a:t>Update</a:t>
            </a:r>
          </a:p>
          <a:p>
            <a:pPr lvl="1"/>
            <a:r>
              <a:rPr lang="en-GB" sz="1200" dirty="0"/>
              <a:t>What is Update (Syntax)</a:t>
            </a:r>
            <a:endParaRPr lang="de-DE" sz="1200" dirty="0"/>
          </a:p>
          <a:p>
            <a:pPr lvl="1"/>
            <a:r>
              <a:rPr lang="en-GB" sz="1200" dirty="0"/>
              <a:t>Simultaneously UPDATE two columns </a:t>
            </a:r>
            <a:endParaRPr lang="de-DE" sz="1200" dirty="0"/>
          </a:p>
          <a:p>
            <a:pPr lvl="1"/>
            <a:r>
              <a:rPr lang="en-GB" sz="1200" dirty="0"/>
              <a:t>Loop-back Update</a:t>
            </a:r>
          </a:p>
          <a:p>
            <a:pPr lvl="1"/>
            <a:r>
              <a:rPr lang="en-GB" sz="1200" dirty="0"/>
              <a:t>UPDATE RULES (By Changing the Header Table What Happened for Detail Tables)</a:t>
            </a:r>
            <a:endParaRPr lang="de-DE" sz="1200" dirty="0"/>
          </a:p>
          <a:p>
            <a:pPr lvl="1"/>
            <a:r>
              <a:rPr lang="en-GB" sz="1200" dirty="0"/>
              <a:t>No Action </a:t>
            </a:r>
            <a:endParaRPr lang="de-DE" sz="1200" dirty="0"/>
          </a:p>
          <a:p>
            <a:pPr lvl="1"/>
            <a:r>
              <a:rPr lang="en-GB" sz="1200" dirty="0"/>
              <a:t>SET NULL</a:t>
            </a:r>
            <a:endParaRPr lang="de-DE" sz="1200" dirty="0"/>
          </a:p>
          <a:p>
            <a:pPr lvl="1"/>
            <a:r>
              <a:rPr lang="en-GB" sz="1200" dirty="0"/>
              <a:t>SET Default</a:t>
            </a:r>
            <a:endParaRPr lang="de-DE" sz="1200" dirty="0"/>
          </a:p>
          <a:p>
            <a:pPr lvl="1"/>
            <a:r>
              <a:rPr lang="en-GB" sz="1200" dirty="0"/>
              <a:t>Cascade (Not Used for Delete) for Update It can be used</a:t>
            </a:r>
            <a:endParaRPr lang="de-DE" sz="1800" b="1" dirty="0"/>
          </a:p>
          <a:p>
            <a:r>
              <a:rPr lang="de-DE" sz="1800" b="1" dirty="0"/>
              <a:t>Delete</a:t>
            </a:r>
          </a:p>
          <a:p>
            <a:r>
              <a:rPr lang="de-DE" sz="1800" b="1" dirty="0"/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3610505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C856B6-371E-3EB4-974E-E8D4CDD4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Aggregations</a:t>
            </a:r>
            <a:r>
              <a:rPr lang="de-DE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</a:t>
            </a:r>
            <a:br>
              <a:rPr lang="de-DE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Windowing</a:t>
            </a:r>
            <a:r>
              <a:rPr lang="de-DE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de-DE" b="1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Analytic</a:t>
            </a:r>
            <a:r>
              <a:rPr lang="de-DE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9B0909-0DB3-C513-2BF1-2697FBCCE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Window Functions</a:t>
            </a:r>
            <a:endParaRPr lang="de-DE" dirty="0"/>
          </a:p>
          <a:p>
            <a:pPr lvl="0"/>
            <a:r>
              <a:rPr lang="en-GB" sz="1900" b="1" dirty="0"/>
              <a:t>ROW_NUMBER()</a:t>
            </a:r>
            <a:endParaRPr lang="de-DE" sz="1900" b="1" dirty="0"/>
          </a:p>
          <a:p>
            <a:pPr lvl="0"/>
            <a:r>
              <a:rPr lang="en-GB" sz="1900" b="1" dirty="0"/>
              <a:t>RANK()</a:t>
            </a:r>
            <a:endParaRPr lang="de-DE" sz="1900" b="1" dirty="0"/>
          </a:p>
          <a:p>
            <a:pPr lvl="0"/>
            <a:r>
              <a:rPr lang="en-GB" sz="1900" b="1" dirty="0" err="1"/>
              <a:t>Dense_Rank</a:t>
            </a:r>
            <a:r>
              <a:rPr lang="en-GB" sz="1900" b="1" dirty="0"/>
              <a:t>()</a:t>
            </a:r>
            <a:endParaRPr lang="de-DE" sz="1900" b="1" dirty="0"/>
          </a:p>
          <a:p>
            <a:pPr lvl="0"/>
            <a:r>
              <a:rPr lang="en-GB" sz="1900" b="1" dirty="0"/>
              <a:t>NTILE()</a:t>
            </a:r>
            <a:endParaRPr lang="de-DE" sz="1900" b="1" dirty="0"/>
          </a:p>
          <a:p>
            <a:r>
              <a:rPr lang="en-GB" b="1" dirty="0"/>
              <a:t>Analytic Function </a:t>
            </a:r>
            <a:endParaRPr lang="de-DE" dirty="0"/>
          </a:p>
          <a:p>
            <a:pPr lvl="0"/>
            <a:r>
              <a:rPr lang="en-GB" sz="1900" b="1" dirty="0"/>
              <a:t>LEAD </a:t>
            </a:r>
            <a:endParaRPr lang="de-DE" sz="1900" b="1" dirty="0"/>
          </a:p>
          <a:p>
            <a:pPr lvl="0"/>
            <a:r>
              <a:rPr lang="en-GB" sz="1900" b="1" dirty="0"/>
              <a:t>LAG</a:t>
            </a:r>
            <a:endParaRPr lang="de-DE" sz="1900" b="1" dirty="0"/>
          </a:p>
          <a:p>
            <a:pPr lvl="0"/>
            <a:r>
              <a:rPr lang="en-GB" sz="1900" b="1" dirty="0" err="1"/>
              <a:t>First_Value</a:t>
            </a:r>
            <a:endParaRPr lang="de-DE" sz="1900" b="1" dirty="0"/>
          </a:p>
          <a:p>
            <a:pPr lvl="0"/>
            <a:r>
              <a:rPr lang="en-GB" sz="1900" b="1" dirty="0" err="1"/>
              <a:t>Last_Value</a:t>
            </a:r>
            <a:endParaRPr lang="de-DE" sz="1900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9286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B7E5A-CB21-7B85-9818-9B418788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7FADD3-D3CF-EB63-CE49-91C75B20F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Functions </a:t>
            </a:r>
            <a:endParaRPr lang="de-DE" dirty="0"/>
          </a:p>
          <a:p>
            <a:pPr lvl="0"/>
            <a:r>
              <a:rPr lang="en-GB" b="1" dirty="0"/>
              <a:t>Scalar Functions </a:t>
            </a:r>
            <a:endParaRPr lang="de-DE" dirty="0"/>
          </a:p>
          <a:p>
            <a:pPr lvl="0"/>
            <a:r>
              <a:rPr lang="en-GB" b="1" dirty="0"/>
              <a:t>Table Functions 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3291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8BAC4-304E-DEFD-4348-DA50E631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Supplementary</a:t>
            </a:r>
            <a:r>
              <a:rPr lang="de-DE" dirty="0"/>
              <a:t> Materials</a:t>
            </a:r>
          </a:p>
        </p:txBody>
      </p:sp>
    </p:spTree>
    <p:extLst>
      <p:ext uri="{BB962C8B-B14F-4D97-AF65-F5344CB8AC3E}">
        <p14:creationId xmlns:p14="http://schemas.microsoft.com/office/powerpoint/2010/main" val="543331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D050B-729B-4159-24BE-C41732BD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A83347-1DD9-13BF-9222-011A32E4B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Providing Shorthand Names for Tables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8467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A4A466-24AF-3C1D-3ABF-2AE305EE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42D34BF0-20BB-221F-6E9A-D689597FB2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519250"/>
              </p:ext>
            </p:extLst>
          </p:nvPr>
        </p:nvGraphicFramePr>
        <p:xfrm>
          <a:off x="604520" y="186769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225671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927009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59832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Controls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09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DDL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Data 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864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Data Manipulation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Data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61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Data 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Data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693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DCL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Data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03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TCL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Transaction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Integrity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153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603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276D0A-E26E-7042-FC25-F4830517D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619018"/>
              </p:ext>
            </p:extLst>
          </p:nvPr>
        </p:nvGraphicFramePr>
        <p:xfrm>
          <a:off x="2931160" y="3721946"/>
          <a:ext cx="19608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customerID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CBFA81-E796-6A86-DEC1-4DDD45332F2C}"/>
              </a:ext>
            </a:extLst>
          </p:cNvPr>
          <p:cNvSpPr txBox="1"/>
          <p:nvPr/>
        </p:nvSpPr>
        <p:spPr>
          <a:xfrm>
            <a:off x="-63184" y="2107345"/>
            <a:ext cx="133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Invoice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FF3E0-7BBD-E887-6B9D-63984D1B64B3}"/>
              </a:ext>
            </a:extLst>
          </p:cNvPr>
          <p:cNvSpPr txBox="1"/>
          <p:nvPr/>
        </p:nvSpPr>
        <p:spPr>
          <a:xfrm>
            <a:off x="2880360" y="5012266"/>
            <a:ext cx="111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Address</a:t>
            </a:r>
            <a:endParaRPr lang="de-DE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81BFB6-3C2E-518A-3DA8-40AEF1342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352458"/>
              </p:ext>
            </p:extLst>
          </p:nvPr>
        </p:nvGraphicFramePr>
        <p:xfrm>
          <a:off x="2809240" y="5383106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addressID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customerID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873A140-A0CC-FFD6-2836-46AE24EF2E71}"/>
              </a:ext>
            </a:extLst>
          </p:cNvPr>
          <p:cNvCxnSpPr>
            <a:cxnSpLocks/>
            <a:endCxn id="9" idx="0"/>
          </p:cNvCxnSpPr>
          <p:nvPr/>
        </p:nvCxnSpPr>
        <p:spPr>
          <a:xfrm rot="16200000" flipH="1">
            <a:off x="3329939" y="4562686"/>
            <a:ext cx="919480" cy="72136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036651E-4CFA-2CCC-5729-D2795945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27311"/>
              </p:ext>
            </p:extLst>
          </p:nvPr>
        </p:nvGraphicFramePr>
        <p:xfrm>
          <a:off x="7279640" y="5464386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productID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categoryID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E927545-041A-8161-E921-AC7D70CD5A41}"/>
              </a:ext>
            </a:extLst>
          </p:cNvPr>
          <p:cNvSpPr txBox="1"/>
          <p:nvPr/>
        </p:nvSpPr>
        <p:spPr>
          <a:xfrm>
            <a:off x="6212839" y="5430704"/>
            <a:ext cx="111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Product</a:t>
            </a:r>
            <a:endParaRPr lang="de-DE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C83580E-5753-4655-50AE-9A6C3E75A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855531"/>
              </p:ext>
            </p:extLst>
          </p:nvPr>
        </p:nvGraphicFramePr>
        <p:xfrm>
          <a:off x="7279640" y="7149438"/>
          <a:ext cx="19608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categoryID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8040CC3-45B7-9D6B-C398-A03CC430A481}"/>
              </a:ext>
            </a:extLst>
          </p:cNvPr>
          <p:cNvSpPr txBox="1"/>
          <p:nvPr/>
        </p:nvSpPr>
        <p:spPr>
          <a:xfrm>
            <a:off x="6162040" y="7074374"/>
            <a:ext cx="111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Category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996ED36-3457-2548-F31D-B6D1BA2732C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114784" y="6351364"/>
            <a:ext cx="943372" cy="65277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7793D51-C45D-E131-52FA-A1EF09541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718591"/>
              </p:ext>
            </p:extLst>
          </p:nvPr>
        </p:nvGraphicFramePr>
        <p:xfrm>
          <a:off x="7897947" y="3475317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specID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productID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2E646BB-F277-B279-47E6-E2C5F828A3C5}"/>
              </a:ext>
            </a:extLst>
          </p:cNvPr>
          <p:cNvSpPr txBox="1"/>
          <p:nvPr/>
        </p:nvSpPr>
        <p:spPr>
          <a:xfrm>
            <a:off x="7882707" y="3105985"/>
            <a:ext cx="2682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Product</a:t>
            </a:r>
            <a:r>
              <a:rPr lang="de-DE" dirty="0"/>
              <a:t> </a:t>
            </a:r>
            <a:r>
              <a:rPr lang="de-DE" dirty="0" err="1"/>
              <a:t>Specification</a:t>
            </a:r>
            <a:endParaRPr lang="de-DE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5F6222C-D6A8-41A1-901D-2630BD07869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989146" y="4223173"/>
            <a:ext cx="1237826" cy="123444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42D1A9-E02A-99FE-F2B7-3A139601A38D}"/>
              </a:ext>
            </a:extLst>
          </p:cNvPr>
          <p:cNvSpPr txBox="1"/>
          <p:nvPr/>
        </p:nvSpPr>
        <p:spPr>
          <a:xfrm>
            <a:off x="10764520" y="4923365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Inventory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68D6EEA-66B4-D340-54C4-03CB73A7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062126"/>
              </p:ext>
            </p:extLst>
          </p:nvPr>
        </p:nvGraphicFramePr>
        <p:xfrm>
          <a:off x="12227560" y="7259041"/>
          <a:ext cx="19608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warehouseID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490CA04-CF53-8008-5C3B-0BA25300A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731125"/>
              </p:ext>
            </p:extLst>
          </p:nvPr>
        </p:nvGraphicFramePr>
        <p:xfrm>
          <a:off x="10815319" y="5298066"/>
          <a:ext cx="394208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267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45014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1178260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  <a:gridCol w="396540">
                  <a:extLst>
                    <a:ext uri="{9D8B030D-6E8A-4147-A177-3AD203B41FA5}">
                      <a16:colId xmlns:a16="http://schemas.microsoft.com/office/drawing/2014/main" val="32713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inventoryID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productID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warehouseID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6266618C-25F9-9DC4-D35E-5FB61D3D4629}"/>
              </a:ext>
            </a:extLst>
          </p:cNvPr>
          <p:cNvSpPr txBox="1"/>
          <p:nvPr/>
        </p:nvSpPr>
        <p:spPr>
          <a:xfrm>
            <a:off x="12288520" y="6950669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Warehouse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215709B-43A6-564A-767C-DC072825F846}"/>
              </a:ext>
            </a:extLst>
          </p:cNvPr>
          <p:cNvCxnSpPr>
            <a:cxnSpLocks/>
            <a:endCxn id="30" idx="0"/>
          </p:cNvCxnSpPr>
          <p:nvPr/>
        </p:nvCxnSpPr>
        <p:spPr>
          <a:xfrm flipV="1">
            <a:off x="7884159" y="5298066"/>
            <a:ext cx="4902200" cy="163780"/>
          </a:xfrm>
          <a:prstGeom prst="bentConnector4">
            <a:avLst>
              <a:gd name="adj1" fmla="val 29896"/>
              <a:gd name="adj2" fmla="val 23957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FCDCFA8-A94C-8D75-CCDA-29F4A715BEB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783772" y="6149013"/>
            <a:ext cx="1219294" cy="100076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DF3AC02-3CB7-195C-2C50-415427F31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620219"/>
              </p:ext>
            </p:extLst>
          </p:nvPr>
        </p:nvGraphicFramePr>
        <p:xfrm>
          <a:off x="3627846" y="1734997"/>
          <a:ext cx="258499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47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190647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3393097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orderID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customerID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70777C29-1DFA-B6AE-81F1-AEF2C9FF977D}"/>
              </a:ext>
            </a:extLst>
          </p:cNvPr>
          <p:cNvSpPr txBox="1"/>
          <p:nvPr/>
        </p:nvSpPr>
        <p:spPr>
          <a:xfrm>
            <a:off x="7909559" y="607814"/>
            <a:ext cx="1445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Order_Items</a:t>
            </a:r>
            <a:endParaRPr lang="de-DE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36E4036-7477-7B0B-8682-33B3FD9EAAD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72895" y="2479971"/>
            <a:ext cx="1259896" cy="120976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8C7257B-50AC-E6C5-B077-ABAAC42BF9A5}"/>
              </a:ext>
            </a:extLst>
          </p:cNvPr>
          <p:cNvSpPr txBox="1"/>
          <p:nvPr/>
        </p:nvSpPr>
        <p:spPr>
          <a:xfrm>
            <a:off x="3780246" y="1488181"/>
            <a:ext cx="133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Order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8227B97B-FC29-247F-0BF9-BC498970F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327443"/>
              </p:ext>
            </p:extLst>
          </p:nvPr>
        </p:nvGraphicFramePr>
        <p:xfrm>
          <a:off x="7293973" y="1040460"/>
          <a:ext cx="370495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374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806885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1168356">
                  <a:extLst>
                    <a:ext uri="{9D8B030D-6E8A-4147-A177-3AD203B41FA5}">
                      <a16:colId xmlns:a16="http://schemas.microsoft.com/office/drawing/2014/main" val="2100517378"/>
                    </a:ext>
                  </a:extLst>
                </a:gridCol>
                <a:gridCol w="548338">
                  <a:extLst>
                    <a:ext uri="{9D8B030D-6E8A-4147-A177-3AD203B41FA5}">
                      <a16:colId xmlns:a16="http://schemas.microsoft.com/office/drawing/2014/main" val="3393097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orderItemID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orderID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1A930EF4-DA40-33C2-7ED1-F28E170A5139}"/>
              </a:ext>
            </a:extLst>
          </p:cNvPr>
          <p:cNvCxnSpPr>
            <a:cxnSpLocks/>
            <a:endCxn id="49" idx="0"/>
          </p:cNvCxnSpPr>
          <p:nvPr/>
        </p:nvCxnSpPr>
        <p:spPr>
          <a:xfrm flipV="1">
            <a:off x="4150359" y="1040460"/>
            <a:ext cx="4996090" cy="639701"/>
          </a:xfrm>
          <a:prstGeom prst="bentConnector4">
            <a:avLst>
              <a:gd name="adj1" fmla="val 31461"/>
              <a:gd name="adj2" fmla="val 13573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EBB74E90-D0DD-FDA9-9D17-F811FCC083F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96442" y="2504824"/>
            <a:ext cx="3635935" cy="2212341"/>
          </a:xfrm>
          <a:prstGeom prst="bentConnector3">
            <a:avLst>
              <a:gd name="adj1" fmla="val 7814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B49A2970-B172-1D4B-19E6-9AD77762F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395027"/>
              </p:ext>
            </p:extLst>
          </p:nvPr>
        </p:nvGraphicFramePr>
        <p:xfrm>
          <a:off x="1086396" y="-133866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604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50836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de-DE" sz="1200" dirty="0" err="1"/>
                        <a:t>aymentID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orderID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27C47818-2ECB-2A5E-EB94-88588A9EE8DE}"/>
              </a:ext>
            </a:extLst>
          </p:cNvPr>
          <p:cNvSpPr txBox="1"/>
          <p:nvPr/>
        </p:nvSpPr>
        <p:spPr>
          <a:xfrm>
            <a:off x="3775166" y="25683"/>
            <a:ext cx="133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Payment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34FEF411-5EC6-FE41-3A30-AF7269233414}"/>
              </a:ext>
            </a:extLst>
          </p:cNvPr>
          <p:cNvCxnSpPr>
            <a:cxnSpLocks/>
          </p:cNvCxnSpPr>
          <p:nvPr/>
        </p:nvCxnSpPr>
        <p:spPr>
          <a:xfrm rot="16200000" flipV="1">
            <a:off x="2609731" y="551571"/>
            <a:ext cx="1259896" cy="120976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897A13DE-67B0-2D57-277F-D8D01021C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924489"/>
              </p:ext>
            </p:extLst>
          </p:nvPr>
        </p:nvGraphicFramePr>
        <p:xfrm>
          <a:off x="127001" y="2476677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604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50836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InvoiceID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orderID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6AAFA13D-89B3-DB84-2504-806455E6C541}"/>
              </a:ext>
            </a:extLst>
          </p:cNvPr>
          <p:cNvCxnSpPr>
            <a:cxnSpLocks/>
            <a:endCxn id="63" idx="0"/>
          </p:cNvCxnSpPr>
          <p:nvPr/>
        </p:nvCxnSpPr>
        <p:spPr>
          <a:xfrm rot="10800000" flipV="1">
            <a:off x="1468120" y="1733203"/>
            <a:ext cx="2149148" cy="74347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63141CC1-7F20-7749-4170-2302477C2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481298"/>
              </p:ext>
            </p:extLst>
          </p:nvPr>
        </p:nvGraphicFramePr>
        <p:xfrm>
          <a:off x="-738823" y="857264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604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50836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deliveryID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orderID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B375C6BE-B4E6-46BD-6F88-D8CFE0F95FFC}"/>
              </a:ext>
            </a:extLst>
          </p:cNvPr>
          <p:cNvCxnSpPr>
            <a:cxnSpLocks/>
            <a:endCxn id="68" idx="2"/>
          </p:cNvCxnSpPr>
          <p:nvPr/>
        </p:nvCxnSpPr>
        <p:spPr>
          <a:xfrm rot="10800000">
            <a:off x="602296" y="1598944"/>
            <a:ext cx="3167372" cy="28665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71E6044-052A-BA47-8FFA-B121EB237119}"/>
              </a:ext>
            </a:extLst>
          </p:cNvPr>
          <p:cNvSpPr txBox="1"/>
          <p:nvPr/>
        </p:nvSpPr>
        <p:spPr>
          <a:xfrm>
            <a:off x="3246120" y="3505014"/>
            <a:ext cx="133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Customer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901A8D-5754-7E8D-718D-4F9809C16E4F}"/>
              </a:ext>
            </a:extLst>
          </p:cNvPr>
          <p:cNvSpPr txBox="1"/>
          <p:nvPr/>
        </p:nvSpPr>
        <p:spPr>
          <a:xfrm>
            <a:off x="-1018764" y="476804"/>
            <a:ext cx="133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Delivery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6259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AB23E-B34A-7021-35E1-C923CD22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642F81-0677-A68C-B6D3-30EEDA45CBD1}"/>
              </a:ext>
            </a:extLst>
          </p:cNvPr>
          <p:cNvGraphicFramePr>
            <a:graphicFrameLocks noGrp="1"/>
          </p:cNvGraphicFramePr>
          <p:nvPr/>
        </p:nvGraphicFramePr>
        <p:xfrm>
          <a:off x="2931160" y="3721946"/>
          <a:ext cx="19608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customerID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35BAF8-2639-9659-147A-0FB85070997A}"/>
              </a:ext>
            </a:extLst>
          </p:cNvPr>
          <p:cNvSpPr txBox="1"/>
          <p:nvPr/>
        </p:nvSpPr>
        <p:spPr>
          <a:xfrm>
            <a:off x="-63184" y="2107345"/>
            <a:ext cx="133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Invoice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C27D45-1FD4-3553-97AB-2581826A3D45}"/>
              </a:ext>
            </a:extLst>
          </p:cNvPr>
          <p:cNvSpPr txBox="1"/>
          <p:nvPr/>
        </p:nvSpPr>
        <p:spPr>
          <a:xfrm>
            <a:off x="2880360" y="5012266"/>
            <a:ext cx="111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Address</a:t>
            </a:r>
            <a:endParaRPr lang="de-DE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E468EC-B6B5-DE19-617D-37CFB71492AB}"/>
              </a:ext>
            </a:extLst>
          </p:cNvPr>
          <p:cNvGraphicFramePr>
            <a:graphicFrameLocks noGrp="1"/>
          </p:cNvGraphicFramePr>
          <p:nvPr/>
        </p:nvGraphicFramePr>
        <p:xfrm>
          <a:off x="2809240" y="5383106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addressID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customerID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5CA809B-59B7-5C89-48C3-D3416A5435F7}"/>
              </a:ext>
            </a:extLst>
          </p:cNvPr>
          <p:cNvCxnSpPr>
            <a:cxnSpLocks/>
            <a:endCxn id="9" idx="0"/>
          </p:cNvCxnSpPr>
          <p:nvPr/>
        </p:nvCxnSpPr>
        <p:spPr>
          <a:xfrm rot="16200000" flipH="1">
            <a:off x="3329939" y="4562686"/>
            <a:ext cx="919480" cy="72136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C25F6E7-8733-06F8-EAAC-4C6E391B3CE5}"/>
              </a:ext>
            </a:extLst>
          </p:cNvPr>
          <p:cNvGraphicFramePr>
            <a:graphicFrameLocks noGrp="1"/>
          </p:cNvGraphicFramePr>
          <p:nvPr/>
        </p:nvGraphicFramePr>
        <p:xfrm>
          <a:off x="7279640" y="5464386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productID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categoryID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9A3F200-E484-8F87-C4E4-9A9148EF9E0F}"/>
              </a:ext>
            </a:extLst>
          </p:cNvPr>
          <p:cNvSpPr txBox="1"/>
          <p:nvPr/>
        </p:nvSpPr>
        <p:spPr>
          <a:xfrm>
            <a:off x="6212839" y="5430704"/>
            <a:ext cx="111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Product</a:t>
            </a:r>
            <a:endParaRPr lang="de-DE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9B22BE5-16C4-A9E2-7A34-48CC842EE7AA}"/>
              </a:ext>
            </a:extLst>
          </p:cNvPr>
          <p:cNvGraphicFramePr>
            <a:graphicFrameLocks noGrp="1"/>
          </p:cNvGraphicFramePr>
          <p:nvPr/>
        </p:nvGraphicFramePr>
        <p:xfrm>
          <a:off x="7279640" y="7149438"/>
          <a:ext cx="19608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categoryID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E46268A-E041-967C-4362-19E031ECD056}"/>
              </a:ext>
            </a:extLst>
          </p:cNvPr>
          <p:cNvSpPr txBox="1"/>
          <p:nvPr/>
        </p:nvSpPr>
        <p:spPr>
          <a:xfrm>
            <a:off x="6162040" y="7074374"/>
            <a:ext cx="111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Category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A2BDE42-4334-C92C-35F0-6E12348539C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114784" y="6351364"/>
            <a:ext cx="943372" cy="65277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1326F45-B168-DE0A-749A-F370F1CD42F0}"/>
              </a:ext>
            </a:extLst>
          </p:cNvPr>
          <p:cNvGraphicFramePr>
            <a:graphicFrameLocks noGrp="1"/>
          </p:cNvGraphicFramePr>
          <p:nvPr/>
        </p:nvGraphicFramePr>
        <p:xfrm>
          <a:off x="7897947" y="3475317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specID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productID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7270307-38B0-B6D1-79CF-B7CE0D395995}"/>
              </a:ext>
            </a:extLst>
          </p:cNvPr>
          <p:cNvSpPr txBox="1"/>
          <p:nvPr/>
        </p:nvSpPr>
        <p:spPr>
          <a:xfrm>
            <a:off x="7882707" y="3105985"/>
            <a:ext cx="2682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Product</a:t>
            </a:r>
            <a:r>
              <a:rPr lang="de-DE" dirty="0"/>
              <a:t> </a:t>
            </a:r>
            <a:r>
              <a:rPr lang="de-DE" dirty="0" err="1"/>
              <a:t>Specification</a:t>
            </a:r>
            <a:endParaRPr lang="de-DE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4B96989-A4B1-CC62-ADD8-7A70082910F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989146" y="4223173"/>
            <a:ext cx="1237826" cy="123444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433A852-5C75-5152-E64D-6ED79B30FEE0}"/>
              </a:ext>
            </a:extLst>
          </p:cNvPr>
          <p:cNvSpPr txBox="1"/>
          <p:nvPr/>
        </p:nvSpPr>
        <p:spPr>
          <a:xfrm>
            <a:off x="10764520" y="4923365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Inventory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488506B-BBDB-18A8-7763-A845318F7A84}"/>
              </a:ext>
            </a:extLst>
          </p:cNvPr>
          <p:cNvGraphicFramePr>
            <a:graphicFrameLocks noGrp="1"/>
          </p:cNvGraphicFramePr>
          <p:nvPr/>
        </p:nvGraphicFramePr>
        <p:xfrm>
          <a:off x="12227560" y="7259041"/>
          <a:ext cx="19608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warehouseID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57116E1-FEE1-67C7-614F-67281CF9B2AA}"/>
              </a:ext>
            </a:extLst>
          </p:cNvPr>
          <p:cNvGraphicFramePr>
            <a:graphicFrameLocks noGrp="1"/>
          </p:cNvGraphicFramePr>
          <p:nvPr/>
        </p:nvGraphicFramePr>
        <p:xfrm>
          <a:off x="10815319" y="5298066"/>
          <a:ext cx="394208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267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45014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1178260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  <a:gridCol w="396540">
                  <a:extLst>
                    <a:ext uri="{9D8B030D-6E8A-4147-A177-3AD203B41FA5}">
                      <a16:colId xmlns:a16="http://schemas.microsoft.com/office/drawing/2014/main" val="32713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inventoryID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productID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warehouseID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6B7F92CA-3167-3F2D-436C-AD2F6FA91B2B}"/>
              </a:ext>
            </a:extLst>
          </p:cNvPr>
          <p:cNvSpPr txBox="1"/>
          <p:nvPr/>
        </p:nvSpPr>
        <p:spPr>
          <a:xfrm>
            <a:off x="12288520" y="6950669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Warehouse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8EF2C3A-301C-FC20-34AA-A98FF5B0C5D5}"/>
              </a:ext>
            </a:extLst>
          </p:cNvPr>
          <p:cNvCxnSpPr>
            <a:cxnSpLocks/>
            <a:endCxn id="30" idx="0"/>
          </p:cNvCxnSpPr>
          <p:nvPr/>
        </p:nvCxnSpPr>
        <p:spPr>
          <a:xfrm flipV="1">
            <a:off x="7884159" y="5298066"/>
            <a:ext cx="4902200" cy="163780"/>
          </a:xfrm>
          <a:prstGeom prst="bentConnector4">
            <a:avLst>
              <a:gd name="adj1" fmla="val 29896"/>
              <a:gd name="adj2" fmla="val 23957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6E09929-0056-FDC2-6DA0-B9EC9098093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783772" y="6149013"/>
            <a:ext cx="1219294" cy="100076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EB416828-D616-5885-67B2-D8C0209A323D}"/>
              </a:ext>
            </a:extLst>
          </p:cNvPr>
          <p:cNvGraphicFramePr>
            <a:graphicFrameLocks noGrp="1"/>
          </p:cNvGraphicFramePr>
          <p:nvPr/>
        </p:nvGraphicFramePr>
        <p:xfrm>
          <a:off x="3627846" y="1734997"/>
          <a:ext cx="258499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47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190647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3393097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orderID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customerID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AAEBD85D-FE9C-2640-397F-C540BA639A99}"/>
              </a:ext>
            </a:extLst>
          </p:cNvPr>
          <p:cNvSpPr txBox="1"/>
          <p:nvPr/>
        </p:nvSpPr>
        <p:spPr>
          <a:xfrm>
            <a:off x="7909559" y="607814"/>
            <a:ext cx="1445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Order_Items</a:t>
            </a:r>
            <a:endParaRPr lang="de-DE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94C63B5-958C-830F-0454-1B1912978B7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72895" y="2479971"/>
            <a:ext cx="1259896" cy="120976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C4AAFAE-F63D-B72B-398C-7F38F07A9FAB}"/>
              </a:ext>
            </a:extLst>
          </p:cNvPr>
          <p:cNvSpPr txBox="1"/>
          <p:nvPr/>
        </p:nvSpPr>
        <p:spPr>
          <a:xfrm>
            <a:off x="3780246" y="1488181"/>
            <a:ext cx="133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Order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566E32C2-DE25-EB0B-87D3-B0F2D3BE643F}"/>
              </a:ext>
            </a:extLst>
          </p:cNvPr>
          <p:cNvGraphicFramePr>
            <a:graphicFrameLocks noGrp="1"/>
          </p:cNvGraphicFramePr>
          <p:nvPr/>
        </p:nvGraphicFramePr>
        <p:xfrm>
          <a:off x="7293973" y="1040460"/>
          <a:ext cx="370495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374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806885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1168356">
                  <a:extLst>
                    <a:ext uri="{9D8B030D-6E8A-4147-A177-3AD203B41FA5}">
                      <a16:colId xmlns:a16="http://schemas.microsoft.com/office/drawing/2014/main" val="2100517378"/>
                    </a:ext>
                  </a:extLst>
                </a:gridCol>
                <a:gridCol w="548338">
                  <a:extLst>
                    <a:ext uri="{9D8B030D-6E8A-4147-A177-3AD203B41FA5}">
                      <a16:colId xmlns:a16="http://schemas.microsoft.com/office/drawing/2014/main" val="3393097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orderItemID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orderID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70B471E-6716-C90E-90A6-D06F6F3E107E}"/>
              </a:ext>
            </a:extLst>
          </p:cNvPr>
          <p:cNvCxnSpPr>
            <a:cxnSpLocks/>
            <a:endCxn id="49" idx="0"/>
          </p:cNvCxnSpPr>
          <p:nvPr/>
        </p:nvCxnSpPr>
        <p:spPr>
          <a:xfrm flipV="1">
            <a:off x="4150359" y="1040460"/>
            <a:ext cx="4996090" cy="639701"/>
          </a:xfrm>
          <a:prstGeom prst="bentConnector4">
            <a:avLst>
              <a:gd name="adj1" fmla="val 31461"/>
              <a:gd name="adj2" fmla="val 13573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E80137C4-1B60-B900-A604-CD40E64050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96442" y="2504824"/>
            <a:ext cx="3635935" cy="2212341"/>
          </a:xfrm>
          <a:prstGeom prst="bentConnector3">
            <a:avLst>
              <a:gd name="adj1" fmla="val 7814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8D026D4-65DC-EF19-C05D-FAA804EC3EA0}"/>
              </a:ext>
            </a:extLst>
          </p:cNvPr>
          <p:cNvGraphicFramePr>
            <a:graphicFrameLocks noGrp="1"/>
          </p:cNvGraphicFramePr>
          <p:nvPr/>
        </p:nvGraphicFramePr>
        <p:xfrm>
          <a:off x="1086396" y="-133866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604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50836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de-DE" sz="1200" dirty="0" err="1"/>
                        <a:t>aymentID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orderID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F6B137D5-6318-E47D-B0C7-C43350F58147}"/>
              </a:ext>
            </a:extLst>
          </p:cNvPr>
          <p:cNvSpPr txBox="1"/>
          <p:nvPr/>
        </p:nvSpPr>
        <p:spPr>
          <a:xfrm>
            <a:off x="3775166" y="25683"/>
            <a:ext cx="133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Payment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111C4D27-4AA8-D835-4264-A8A4C3693622}"/>
              </a:ext>
            </a:extLst>
          </p:cNvPr>
          <p:cNvCxnSpPr>
            <a:cxnSpLocks/>
          </p:cNvCxnSpPr>
          <p:nvPr/>
        </p:nvCxnSpPr>
        <p:spPr>
          <a:xfrm rot="16200000" flipV="1">
            <a:off x="2609731" y="551571"/>
            <a:ext cx="1259896" cy="120976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71ACF0EE-ECF1-D51A-7E5D-6F362FC9196F}"/>
              </a:ext>
            </a:extLst>
          </p:cNvPr>
          <p:cNvGraphicFramePr>
            <a:graphicFrameLocks noGrp="1"/>
          </p:cNvGraphicFramePr>
          <p:nvPr/>
        </p:nvGraphicFramePr>
        <p:xfrm>
          <a:off x="127001" y="2476677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604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50836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InvoiceID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orderID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A25FE9B-A577-77A0-246F-9A2421EBEF5C}"/>
              </a:ext>
            </a:extLst>
          </p:cNvPr>
          <p:cNvCxnSpPr>
            <a:cxnSpLocks/>
            <a:endCxn id="63" idx="0"/>
          </p:cNvCxnSpPr>
          <p:nvPr/>
        </p:nvCxnSpPr>
        <p:spPr>
          <a:xfrm rot="10800000" flipV="1">
            <a:off x="1468120" y="1733203"/>
            <a:ext cx="2149148" cy="74347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D5C3325E-BBD6-F038-DE3C-9816B25E1378}"/>
              </a:ext>
            </a:extLst>
          </p:cNvPr>
          <p:cNvGraphicFramePr>
            <a:graphicFrameLocks noGrp="1"/>
          </p:cNvGraphicFramePr>
          <p:nvPr/>
        </p:nvGraphicFramePr>
        <p:xfrm>
          <a:off x="-738823" y="857264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604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50836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deliveryID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orderID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1DF3DC3C-95DB-4B19-845E-D06A07BBB73F}"/>
              </a:ext>
            </a:extLst>
          </p:cNvPr>
          <p:cNvCxnSpPr>
            <a:cxnSpLocks/>
            <a:endCxn id="68" idx="2"/>
          </p:cNvCxnSpPr>
          <p:nvPr/>
        </p:nvCxnSpPr>
        <p:spPr>
          <a:xfrm rot="10800000">
            <a:off x="602296" y="1598944"/>
            <a:ext cx="3167372" cy="28665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A29B8E3-9DD4-623A-6901-9139FE6D7059}"/>
              </a:ext>
            </a:extLst>
          </p:cNvPr>
          <p:cNvSpPr txBox="1"/>
          <p:nvPr/>
        </p:nvSpPr>
        <p:spPr>
          <a:xfrm>
            <a:off x="3246120" y="3505014"/>
            <a:ext cx="133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Customer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8C3AF-9973-A695-912A-B6A1B9796DB0}"/>
              </a:ext>
            </a:extLst>
          </p:cNvPr>
          <p:cNvSpPr txBox="1"/>
          <p:nvPr/>
        </p:nvSpPr>
        <p:spPr>
          <a:xfrm>
            <a:off x="-1018764" y="476804"/>
            <a:ext cx="133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Delivery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4928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EFF2E5-3ECA-F556-BA54-248FCE554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08778"/>
              </p:ext>
            </p:extLst>
          </p:nvPr>
        </p:nvGraphicFramePr>
        <p:xfrm>
          <a:off x="595086" y="2923717"/>
          <a:ext cx="281332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013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41721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491595">
                  <a:extLst>
                    <a:ext uri="{9D8B030D-6E8A-4147-A177-3AD203B41FA5}">
                      <a16:colId xmlns:a16="http://schemas.microsoft.com/office/drawing/2014/main" val="3393097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orderHeaderID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customerID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684D85-066C-1269-9E82-58AD9EA4B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275461"/>
              </p:ext>
            </p:extLst>
          </p:nvPr>
        </p:nvGraphicFramePr>
        <p:xfrm>
          <a:off x="1224278" y="4972938"/>
          <a:ext cx="196088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</a:tblGrid>
              <a:tr h="365517">
                <a:tc>
                  <a:txBody>
                    <a:bodyPr/>
                    <a:lstStyle/>
                    <a:p>
                      <a:r>
                        <a:rPr lang="de-DE" sz="1200" dirty="0" err="1"/>
                        <a:t>customerID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1CCACB-2C9E-28FB-A774-096504532BB6}"/>
              </a:ext>
            </a:extLst>
          </p:cNvPr>
          <p:cNvSpPr txBox="1"/>
          <p:nvPr/>
        </p:nvSpPr>
        <p:spPr>
          <a:xfrm>
            <a:off x="-1477135" y="6594549"/>
            <a:ext cx="2122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core.Adresse</a:t>
            </a:r>
            <a:endParaRPr lang="de-DE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536333-B44A-3076-31B7-DFCA1D9ED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51022"/>
              </p:ext>
            </p:extLst>
          </p:nvPr>
        </p:nvGraphicFramePr>
        <p:xfrm>
          <a:off x="569685" y="6646239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addressID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customerID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80524FB-ECE0-53BB-2C49-9B345D470ED6}"/>
              </a:ext>
            </a:extLst>
          </p:cNvPr>
          <p:cNvCxnSpPr>
            <a:cxnSpLocks/>
            <a:endCxn id="7" idx="0"/>
          </p:cNvCxnSpPr>
          <p:nvPr/>
        </p:nvCxnSpPr>
        <p:spPr>
          <a:xfrm rot="5400000">
            <a:off x="1455615" y="6191049"/>
            <a:ext cx="910380" cy="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CF57837-D554-7282-0A5D-34DCE9895D8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425156" y="4308527"/>
            <a:ext cx="1286260" cy="127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0D9421B-E0EA-D8E3-F8E7-3BA1D7200DD2}"/>
              </a:ext>
            </a:extLst>
          </p:cNvPr>
          <p:cNvSpPr txBox="1"/>
          <p:nvPr/>
        </p:nvSpPr>
        <p:spPr>
          <a:xfrm>
            <a:off x="-758735" y="4945307"/>
            <a:ext cx="2089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core.Customer</a:t>
            </a:r>
            <a:endParaRPr lang="de-DE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80774E-CB47-49F8-41D8-9CA830E85E50}"/>
              </a:ext>
            </a:extLst>
          </p:cNvPr>
          <p:cNvSpPr txBox="1"/>
          <p:nvPr/>
        </p:nvSpPr>
        <p:spPr>
          <a:xfrm>
            <a:off x="-4815840" y="3762633"/>
            <a:ext cx="2007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sales.Invoice</a:t>
            </a:r>
            <a:endParaRPr lang="de-DE" b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E5C5C4E-CA31-3A5E-5530-B6FB2E9AC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58292"/>
              </p:ext>
            </p:extLst>
          </p:nvPr>
        </p:nvGraphicFramePr>
        <p:xfrm>
          <a:off x="-3154371" y="3851533"/>
          <a:ext cx="333458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72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30641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694704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InvoiceID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orderHeaderID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CBC3140-905E-5DE2-D9F8-692A48AB3918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554062" y="3027805"/>
            <a:ext cx="2149148" cy="74347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7798EB1-F6C6-541B-E7B7-5F6937A94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4539"/>
              </p:ext>
            </p:extLst>
          </p:nvPr>
        </p:nvGraphicFramePr>
        <p:xfrm>
          <a:off x="-3938806" y="1909279"/>
          <a:ext cx="316737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604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240899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659868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deliveryID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orderHeaderID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F113C23-4113-E121-B2AF-DE919E5B1449}"/>
              </a:ext>
            </a:extLst>
          </p:cNvPr>
          <p:cNvCxnSpPr>
            <a:cxnSpLocks/>
            <a:endCxn id="14" idx="2"/>
          </p:cNvCxnSpPr>
          <p:nvPr/>
        </p:nvCxnSpPr>
        <p:spPr>
          <a:xfrm rot="10800000">
            <a:off x="-2355121" y="2650959"/>
            <a:ext cx="2924806" cy="28665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F2B7BC1-F759-62CC-0F06-48C365D91AD9}"/>
              </a:ext>
            </a:extLst>
          </p:cNvPr>
          <p:cNvSpPr txBox="1"/>
          <p:nvPr/>
        </p:nvSpPr>
        <p:spPr>
          <a:xfrm>
            <a:off x="-5974080" y="1909279"/>
            <a:ext cx="2263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Shipping.Delivery</a:t>
            </a:r>
            <a:endParaRPr lang="de-DE" b="1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E38DAB4-4C83-AFAB-EE60-F465C9DE6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069510"/>
              </p:ext>
            </p:extLst>
          </p:nvPr>
        </p:nvGraphicFramePr>
        <p:xfrm>
          <a:off x="-1722524" y="982445"/>
          <a:ext cx="316737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604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24090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659868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de-DE" sz="1200" dirty="0" err="1"/>
                        <a:t>aymentID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orderHeaderID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1BDB4E8-64BE-9BD2-9FE2-FEBC4CB75BEA}"/>
              </a:ext>
            </a:extLst>
          </p:cNvPr>
          <p:cNvCxnSpPr>
            <a:cxnSpLocks/>
          </p:cNvCxnSpPr>
          <p:nvPr/>
        </p:nvCxnSpPr>
        <p:spPr>
          <a:xfrm rot="16200000" flipV="1">
            <a:off x="-199189" y="1667882"/>
            <a:ext cx="1259896" cy="120976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0827484-D72C-4D17-C650-4191B5D1F214}"/>
              </a:ext>
            </a:extLst>
          </p:cNvPr>
          <p:cNvSpPr txBox="1"/>
          <p:nvPr/>
        </p:nvSpPr>
        <p:spPr>
          <a:xfrm>
            <a:off x="-3398520" y="841803"/>
            <a:ext cx="1921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sales.Payment</a:t>
            </a:r>
            <a:endParaRPr lang="de-DE" b="1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E4961DE-0CA7-143D-EF07-8D8D9229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93866"/>
              </p:ext>
            </p:extLst>
          </p:nvPr>
        </p:nvGraphicFramePr>
        <p:xfrm>
          <a:off x="3956356" y="3305836"/>
          <a:ext cx="469629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78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326682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1177080">
                  <a:extLst>
                    <a:ext uri="{9D8B030D-6E8A-4147-A177-3AD203B41FA5}">
                      <a16:colId xmlns:a16="http://schemas.microsoft.com/office/drawing/2014/main" val="2100517378"/>
                    </a:ext>
                  </a:extLst>
                </a:gridCol>
                <a:gridCol w="695059">
                  <a:extLst>
                    <a:ext uri="{9D8B030D-6E8A-4147-A177-3AD203B41FA5}">
                      <a16:colId xmlns:a16="http://schemas.microsoft.com/office/drawing/2014/main" val="3393097986"/>
                    </a:ext>
                  </a:extLst>
                </a:gridCol>
              </a:tblGrid>
              <a:tr h="360126">
                <a:tc>
                  <a:txBody>
                    <a:bodyPr/>
                    <a:lstStyle/>
                    <a:p>
                      <a:r>
                        <a:rPr lang="en-US" sz="1200" dirty="0"/>
                        <a:t>o</a:t>
                      </a:r>
                      <a:r>
                        <a:rPr lang="de-DE" sz="1200" dirty="0" err="1"/>
                        <a:t>rderDetailID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orderHeaderID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6230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3693C8-3851-CDE1-3D97-68D4709F211E}"/>
              </a:ext>
            </a:extLst>
          </p:cNvPr>
          <p:cNvCxnSpPr>
            <a:cxnSpLocks/>
          </p:cNvCxnSpPr>
          <p:nvPr/>
        </p:nvCxnSpPr>
        <p:spPr>
          <a:xfrm flipV="1">
            <a:off x="1224278" y="1901509"/>
            <a:ext cx="0" cy="9859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3DFB1DB-7B54-C6E4-9AF9-0F27FBD92E6D}"/>
              </a:ext>
            </a:extLst>
          </p:cNvPr>
          <p:cNvCxnSpPr>
            <a:cxnSpLocks/>
          </p:cNvCxnSpPr>
          <p:nvPr/>
        </p:nvCxnSpPr>
        <p:spPr>
          <a:xfrm>
            <a:off x="1209038" y="1885062"/>
            <a:ext cx="4584555" cy="140837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A53DF76-5362-F231-726F-16BDDE9F7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51723"/>
              </p:ext>
            </p:extLst>
          </p:nvPr>
        </p:nvGraphicFramePr>
        <p:xfrm>
          <a:off x="9504389" y="3300907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productID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categoryID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A99C96FA-5DE4-8FBD-13A3-ACDCD45557E8}"/>
              </a:ext>
            </a:extLst>
          </p:cNvPr>
          <p:cNvSpPr txBox="1"/>
          <p:nvPr/>
        </p:nvSpPr>
        <p:spPr>
          <a:xfrm>
            <a:off x="8519036" y="2927098"/>
            <a:ext cx="1706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core.Product</a:t>
            </a:r>
            <a:endParaRPr lang="de-DE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0148F9-8B3A-9905-4774-F758A3C399F4}"/>
              </a:ext>
            </a:extLst>
          </p:cNvPr>
          <p:cNvSpPr txBox="1"/>
          <p:nvPr/>
        </p:nvSpPr>
        <p:spPr>
          <a:xfrm>
            <a:off x="3956357" y="2921477"/>
            <a:ext cx="2247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sales.OrderDetail</a:t>
            </a:r>
            <a:endParaRPr lang="de-DE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F6EBDF-2200-1699-3C03-FF108B7F3908}"/>
              </a:ext>
            </a:extLst>
          </p:cNvPr>
          <p:cNvSpPr txBox="1"/>
          <p:nvPr/>
        </p:nvSpPr>
        <p:spPr>
          <a:xfrm>
            <a:off x="502728" y="3665396"/>
            <a:ext cx="2601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sales.o</a:t>
            </a:r>
            <a:r>
              <a:rPr lang="de-DE" b="1" dirty="0" err="1"/>
              <a:t>rderHeader</a:t>
            </a:r>
            <a:endParaRPr lang="de-DE" b="1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EA9E14-0340-4DD7-ACB6-753F49D5AD99}"/>
              </a:ext>
            </a:extLst>
          </p:cNvPr>
          <p:cNvCxnSpPr>
            <a:cxnSpLocks/>
          </p:cNvCxnSpPr>
          <p:nvPr/>
        </p:nvCxnSpPr>
        <p:spPr>
          <a:xfrm flipV="1">
            <a:off x="10104120" y="1916749"/>
            <a:ext cx="0" cy="13740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131BCBF-40D7-4C2D-0FCE-1BDD4CF22D77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47718" y="1916749"/>
            <a:ext cx="3069647" cy="1374060"/>
          </a:xfrm>
          <a:prstGeom prst="bentConnector3">
            <a:avLst>
              <a:gd name="adj1" fmla="val 10052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38D17B7-2352-C9B9-68D8-D337F12B9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489320"/>
              </p:ext>
            </p:extLst>
          </p:nvPr>
        </p:nvGraphicFramePr>
        <p:xfrm>
          <a:off x="10606374" y="4943799"/>
          <a:ext cx="19608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categoryID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55CC321-3A53-98F4-A4EF-D3D66559C6E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716346" y="4472113"/>
            <a:ext cx="943372" cy="127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EFB455A-C9E1-A147-51EE-1A5DAB5CA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812518"/>
              </p:ext>
            </p:extLst>
          </p:nvPr>
        </p:nvGraphicFramePr>
        <p:xfrm>
          <a:off x="10421181" y="1332544"/>
          <a:ext cx="2682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specID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productID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A25F6503-1AFB-5817-1579-E6D4326EFC8E}"/>
              </a:ext>
            </a:extLst>
          </p:cNvPr>
          <p:cNvSpPr txBox="1"/>
          <p:nvPr/>
        </p:nvSpPr>
        <p:spPr>
          <a:xfrm>
            <a:off x="10405940" y="963212"/>
            <a:ext cx="3508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>
                <a:solidFill>
                  <a:srgbClr val="FF0000"/>
                </a:solidFill>
              </a:rPr>
              <a:t>core.Product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Specification</a:t>
            </a:r>
            <a:endParaRPr lang="de-DE" b="1" dirty="0">
              <a:solidFill>
                <a:srgbClr val="FF0000"/>
              </a:solidFill>
            </a:endParaRP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C46C50C0-021D-6903-B6B4-B046309B97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512380" y="2080400"/>
            <a:ext cx="1237826" cy="123444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FF2C133-801C-D93A-A0E6-EFD25A70981C}"/>
              </a:ext>
            </a:extLst>
          </p:cNvPr>
          <p:cNvSpPr txBox="1"/>
          <p:nvPr/>
        </p:nvSpPr>
        <p:spPr>
          <a:xfrm>
            <a:off x="8875552" y="4865337"/>
            <a:ext cx="1693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core.Category</a:t>
            </a:r>
            <a:endParaRPr lang="de-DE" b="1" dirty="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B54840CD-1455-2AE5-4BCB-D759D113C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905759"/>
              </p:ext>
            </p:extLst>
          </p:nvPr>
        </p:nvGraphicFramePr>
        <p:xfrm>
          <a:off x="6310700" y="6275399"/>
          <a:ext cx="394208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267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1045014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  <a:gridCol w="1178260">
                  <a:extLst>
                    <a:ext uri="{9D8B030D-6E8A-4147-A177-3AD203B41FA5}">
                      <a16:colId xmlns:a16="http://schemas.microsoft.com/office/drawing/2014/main" val="1640836187"/>
                    </a:ext>
                  </a:extLst>
                </a:gridCol>
                <a:gridCol w="396540">
                  <a:extLst>
                    <a:ext uri="{9D8B030D-6E8A-4147-A177-3AD203B41FA5}">
                      <a16:colId xmlns:a16="http://schemas.microsoft.com/office/drawing/2014/main" val="32713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inventoryID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productID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warehouseID</a:t>
                      </a:r>
                      <a:endParaRPr lang="de-DE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9B7ADD67-0EF5-206C-59DF-F0135F9924AB}"/>
              </a:ext>
            </a:extLst>
          </p:cNvPr>
          <p:cNvCxnSpPr>
            <a:cxnSpLocks/>
          </p:cNvCxnSpPr>
          <p:nvPr/>
        </p:nvCxnSpPr>
        <p:spPr>
          <a:xfrm rot="5400000">
            <a:off x="7974125" y="4282917"/>
            <a:ext cx="2258524" cy="1706244"/>
          </a:xfrm>
          <a:prstGeom prst="bentConnector3">
            <a:avLst>
              <a:gd name="adj1" fmla="val 304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62F0BE8-558F-4B0C-C125-6A35A362E9DA}"/>
              </a:ext>
            </a:extLst>
          </p:cNvPr>
          <p:cNvSpPr txBox="1"/>
          <p:nvPr/>
        </p:nvSpPr>
        <p:spPr>
          <a:xfrm>
            <a:off x="5700560" y="5892488"/>
            <a:ext cx="2296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inventory.Inventory</a:t>
            </a:r>
            <a:endParaRPr lang="de-DE" b="1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9472FA1-D137-528F-AD0E-61B39DECD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214293"/>
              </p:ext>
            </p:extLst>
          </p:nvPr>
        </p:nvGraphicFramePr>
        <p:xfrm>
          <a:off x="8122947" y="8130401"/>
          <a:ext cx="19608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375340893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702501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warehouseID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1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0882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A92F2593-C262-C802-AAF6-F98F298CDE08}"/>
              </a:ext>
            </a:extLst>
          </p:cNvPr>
          <p:cNvSpPr txBox="1"/>
          <p:nvPr/>
        </p:nvSpPr>
        <p:spPr>
          <a:xfrm>
            <a:off x="6629400" y="7778988"/>
            <a:ext cx="266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Inventory.Warehouse</a:t>
            </a:r>
            <a:endParaRPr lang="de-DE" b="1" dirty="0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615792B-B7C8-C808-4434-5879B9A4E39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642842" y="7556098"/>
            <a:ext cx="1184440" cy="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686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1207</Words>
  <Application>Microsoft Office PowerPoint</Application>
  <PresentationFormat>Widescreen</PresentationFormat>
  <Paragraphs>440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HelveticaNeue-HeavyCond</vt:lpstr>
      <vt:lpstr>Office</vt:lpstr>
      <vt:lpstr>PowerPoint Presentation</vt:lpstr>
      <vt:lpstr>PowerPoint Presentation</vt:lpstr>
      <vt:lpstr>PowerPoint Presentation</vt:lpstr>
      <vt:lpstr>Sutup</vt:lpstr>
      <vt:lpstr>Retrieving (Select)</vt:lpstr>
      <vt:lpstr>Filtering (Where) </vt:lpstr>
      <vt:lpstr>Sorting (Order by)</vt:lpstr>
      <vt:lpstr>Programming  Skills</vt:lpstr>
      <vt:lpstr>Subquery</vt:lpstr>
      <vt:lpstr>Transformation  Functions</vt:lpstr>
      <vt:lpstr>Grouping and  Summarizing</vt:lpstr>
      <vt:lpstr>Querying from Multiple Tables</vt:lpstr>
      <vt:lpstr>Data Modelling </vt:lpstr>
      <vt:lpstr>Data Definition  Language (DDL)</vt:lpstr>
      <vt:lpstr>Data Manipulation Language (DML) </vt:lpstr>
      <vt:lpstr>Aggregations and  Windowing / Analytic Function </vt:lpstr>
      <vt:lpstr>Functions</vt:lpstr>
      <vt:lpstr>Supplementary Materials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Faramarz Hojati</dc:creator>
  <cp:lastModifiedBy>Faramarz Hojati</cp:lastModifiedBy>
  <cp:revision>250</cp:revision>
  <dcterms:created xsi:type="dcterms:W3CDTF">2026-01-06T14:34:15Z</dcterms:created>
  <dcterms:modified xsi:type="dcterms:W3CDTF">2026-02-07T18:10:29Z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bc29e43-48e9-4ac3-a1b6-29b7ff57a028_Enabled">
    <vt:lpwstr>true</vt:lpwstr>
  </property>
  <property fmtid="{D5CDD505-2E9C-101B-9397-08002B2CF9AE}" pid="3" name="MSIP_Label_bbc29e43-48e9-4ac3-a1b6-29b7ff57a028_SetDate">
    <vt:lpwstr>2026-01-06T14:36:19Z</vt:lpwstr>
  </property>
  <property fmtid="{D5CDD505-2E9C-101B-9397-08002B2CF9AE}" pid="4" name="MSIP_Label_bbc29e43-48e9-4ac3-a1b6-29b7ff57a028_Method">
    <vt:lpwstr>Standard</vt:lpwstr>
  </property>
  <property fmtid="{D5CDD505-2E9C-101B-9397-08002B2CF9AE}" pid="5" name="MSIP_Label_bbc29e43-48e9-4ac3-a1b6-29b7ff57a028_Name">
    <vt:lpwstr>Label_Internal_and_Partners_hidden</vt:lpwstr>
  </property>
  <property fmtid="{D5CDD505-2E9C-101B-9397-08002B2CF9AE}" pid="6" name="MSIP_Label_bbc29e43-48e9-4ac3-a1b6-29b7ff57a028_SiteId">
    <vt:lpwstr>5b67945d-ceaf-4b30-86f8-1bfee204f1c8</vt:lpwstr>
  </property>
  <property fmtid="{D5CDD505-2E9C-101B-9397-08002B2CF9AE}" pid="7" name="MSIP_Label_bbc29e43-48e9-4ac3-a1b6-29b7ff57a028_ActionId">
    <vt:lpwstr>728e2d03-20bb-42aa-956e-abc32cff07b3</vt:lpwstr>
  </property>
  <property fmtid="{D5CDD505-2E9C-101B-9397-08002B2CF9AE}" pid="8" name="MSIP_Label_bbc29e43-48e9-4ac3-a1b6-29b7ff57a028_ContentBits">
    <vt:lpwstr>0</vt:lpwstr>
  </property>
  <property fmtid="{D5CDD505-2E9C-101B-9397-08002B2CF9AE}" pid="9" name="MSIP_Label_bbc29e43-48e9-4ac3-a1b6-29b7ff57a028_Tag">
    <vt:lpwstr>10, 3, 0, 1</vt:lpwstr>
  </property>
</Properties>
</file>