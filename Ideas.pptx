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115B-966E-F1D6-5CF5-66B845EBF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82CB6-B194-D2DA-B5A0-A73551921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FBAC-6C1F-CA13-AEA0-16219963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B4C2A-56FE-4E69-FD53-AF082F4F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682D8-DF12-8260-FD28-37CBDFBB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72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8291-8F1C-49E5-6C64-59951A8C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C46F-8158-81EC-E3D3-87CCE7C88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0CE13-8C37-9061-EDBC-8FCE08B7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D14E5-E8BF-63DE-EDBE-35AD784E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A6AF2-D2E5-A137-D80E-F5681824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23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408F-26B0-13B4-08D0-C74AD1BCF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5161E-271F-901E-C9E3-6B9E72C20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E84F2-65E8-D93C-AE03-6194E448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52944-B60C-6814-6E3C-0826B72B4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431BF-B7DB-FE9E-2F6C-0167A01C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510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98D6-4E73-651B-CD9A-7A24BBBF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15AC6-C7F7-2EB3-9F9A-7124D6DF3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D5664-7C65-A368-BF9A-D4A1FD492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95384-2411-6289-EFC9-750D4628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1919C-0829-AF45-AF83-3CD215091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2D771-AB06-4470-087F-4D72366E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511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1339-80DA-B113-2FBC-50E62398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FDC82-F1A5-A7E3-941B-D609A4268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00E1A-142B-BC29-D16A-0A34648D5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487B6-D2C2-679F-BE2E-8181BD8D3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B8B31-4EFD-7EF7-6201-895C68A80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6BF8C-9764-8D97-2E90-4FCB278A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BAFC8-28E8-081B-6DDE-C07270FD9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DF089-AE56-B29B-FAE9-703E332F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12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1716-926D-935C-3CDC-844AD9090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E8EFB-886A-DFBA-0AB1-DC8C817A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F73F3-FBFF-0155-1163-B744468F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9525B-288F-D723-DA45-34D43A2B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57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1C627-1AB8-34B8-0907-130800B13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F7F2E-6800-92A9-9BFB-EFB5C29D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4860A-668D-584D-A0CC-8A2CE6DE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03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66D7-920B-EE08-B508-BD76CD48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EA162-8BD8-C037-F31E-CC1DF0002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27CC6-ADF0-9780-B52C-CF73949CC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06948-6450-2C16-69D6-5EA7876C1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13DDC-9F6C-8E89-EA06-C6FB2F67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C132A-D42B-0995-D3CA-D9B60BE9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73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109F-493B-A21B-A454-205BB9C9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3A721-183B-591C-C4D7-F9CFDF719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5563F-74B4-AB33-19C4-4CE73A689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B949C-7AF4-9769-7C4C-49D2208A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73594-B2B6-AB76-B549-2E996345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AA243-C33D-8504-C561-CE4BFE62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211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326E-E83A-484E-958F-002B4686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E4260-5A32-EFC2-132F-9647B6117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3D5F6-08DF-C9A5-52C0-19E4A58A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C4F8F-63EB-4F52-4417-D61F48B5B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0276-194E-143D-D1AE-96E10362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843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20EC15-1433-3596-3EFD-94B3F305C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18E07-FD80-4E41-C27E-76B48EC84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B4EEC-CF32-60FD-9863-4E01C6B7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3EDAC-D459-DE8C-CFE9-B8257181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99392-A82B-BA10-EFDD-72BFC5E0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5477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63B21E-1FBE-029D-76ED-42ABB65CA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C1677-46C3-52CB-DFBD-00AFC7742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76F20-272E-FCD7-61AE-7538DE269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7BB58-BB96-4826-90FD-F470E1231942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7D596-99DF-946A-E6A3-4E253DCC0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610FC-52F5-61E7-DBEB-87834DC2B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71C64-E753-45B6-9A35-AF81572E59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541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C97AEA-8344-8C8F-9D9C-3B3E94E683B7}"/>
              </a:ext>
            </a:extLst>
          </p:cNvPr>
          <p:cNvSpPr txBox="1"/>
          <p:nvPr/>
        </p:nvSpPr>
        <p:spPr>
          <a:xfrm>
            <a:off x="76200" y="0"/>
            <a:ext cx="10482943" cy="6561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Most Interesting → Less Interesting </a:t>
            </a:r>
            <a:r>
              <a:rPr lang="en-US" b="1" dirty="0">
                <a:solidFill>
                  <a:srgbClr val="FF0000"/>
                </a:solidFill>
              </a:rPr>
              <a:t>For Business Engineering and BI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“The Data Pipeline That Changed Everything: From Zero to Fully Automated Analytics”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“How Companies Actually Use Data: The Secrets They Don’t Teach in School”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“Building a Real-Time Dashboard That Makes CEOs Go WOW”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“Data Engineering vs Business Intelligence: What They </a:t>
            </a:r>
            <a:r>
              <a:rPr lang="en-US" b="1" i="1" dirty="0"/>
              <a:t>Never</a:t>
            </a:r>
            <a:r>
              <a:rPr lang="en-US" b="1" dirty="0"/>
              <a:t> Tell You”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“From Chaos to Clarity: How To Fix a Broken Data Warehouse”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“5 Data Engineering Tools You SHOULD Be Using in 2025”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“Why Your ETL Jobs Keep Failing — And How To Fix Them Fast”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“Designing a Modern Data Architecture: A Step-by-Step Guide”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“Building End-to-End Analytics With </a:t>
            </a:r>
            <a:r>
              <a:rPr lang="en-US" b="1" dirty="0" err="1"/>
              <a:t>dbt</a:t>
            </a:r>
            <a:r>
              <a:rPr lang="en-US" b="1" dirty="0"/>
              <a:t>, </a:t>
            </a:r>
            <a:r>
              <a:rPr lang="en-US" b="1" dirty="0" err="1"/>
              <a:t>Fivetran</a:t>
            </a:r>
            <a:r>
              <a:rPr lang="en-US" b="1" dirty="0"/>
              <a:t> &amp; Snowflake”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“SQL Tricks That Will Make You Look Like a Wizard at Work”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“How To Choose the Right BI Tool: Power BI vs Looker vs Tableau”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“Data Modeling 101: Star Schema vs Snowflake (Real Examples)”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“Why Your Dashboards Aren’t Driving Decisions (And How To Fix It)”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“The Future of Data Jobs: What Skills Will Matter?”</a:t>
            </a: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“What I Wish I Knew Before Becoming a Data Engineer”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8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97EC2B-8F49-C198-3346-787910C916C3}"/>
              </a:ext>
            </a:extLst>
          </p:cNvPr>
          <p:cNvSpPr txBox="1"/>
          <p:nvPr/>
        </p:nvSpPr>
        <p:spPr>
          <a:xfrm>
            <a:off x="174171" y="0"/>
            <a:ext cx="83928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🔥 Most Interesting SQL Topics (High Engagement)</a:t>
            </a:r>
          </a:p>
          <a:p>
            <a:pPr>
              <a:buNone/>
            </a:pPr>
            <a:r>
              <a:rPr lang="en-US" b="1" dirty="0"/>
              <a:t>1. Advanced SQL Tricks That Make You Look Senior</a:t>
            </a:r>
          </a:p>
          <a:p>
            <a:pPr>
              <a:buNone/>
            </a:pPr>
            <a:r>
              <a:rPr lang="en-US" dirty="0"/>
              <a:t>Window functions, CTEs, recursion, analytic functions — all the stuff that juniors don’t know yet.</a:t>
            </a:r>
          </a:p>
          <a:p>
            <a:pPr>
              <a:buNone/>
            </a:pPr>
            <a:r>
              <a:rPr lang="en-US" b="1" dirty="0"/>
              <a:t>2. SQL Interview Questions That Companies Actually Ask</a:t>
            </a:r>
          </a:p>
          <a:p>
            <a:pPr>
              <a:buNone/>
            </a:pPr>
            <a:r>
              <a:rPr lang="en-US" dirty="0"/>
              <a:t>People LOVE these. High search volume + evergreen.</a:t>
            </a:r>
          </a:p>
          <a:p>
            <a:pPr>
              <a:buNone/>
            </a:pPr>
            <a:r>
              <a:rPr lang="en-US" b="1" dirty="0"/>
              <a:t>3. SQL Performance Tuning (The Fun, Real-World Stuff)</a:t>
            </a:r>
          </a:p>
          <a:p>
            <a:pPr>
              <a:buNone/>
            </a:pPr>
            <a:r>
              <a:rPr lang="en-US" dirty="0"/>
              <a:t>How to make slow queries fast. Execution plans. Index magic. Developers eat this up.</a:t>
            </a:r>
          </a:p>
          <a:p>
            <a:pPr>
              <a:buNone/>
            </a:pPr>
            <a:r>
              <a:rPr lang="en-US" b="1" dirty="0"/>
              <a:t>4. SQL for Data Engineering: Patterns You Must Know</a:t>
            </a:r>
          </a:p>
          <a:p>
            <a:pPr>
              <a:buNone/>
            </a:pPr>
            <a:r>
              <a:rPr lang="en-US" dirty="0"/>
              <a:t>MERGE, SCD Types, deduplication strategies, incremental loads. Super hot topic.</a:t>
            </a:r>
          </a:p>
          <a:p>
            <a:pPr>
              <a:buNone/>
            </a:pPr>
            <a:r>
              <a:rPr lang="en-US" b="1" dirty="0"/>
              <a:t>5. Writing SQL Like a Pro: Clean &amp; Readable Query Patterns</a:t>
            </a:r>
          </a:p>
          <a:p>
            <a:pPr>
              <a:buNone/>
            </a:pPr>
            <a:r>
              <a:rPr lang="en-US" dirty="0"/>
              <a:t>There’s a big thirst for “best practices” content.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0B469-41FD-5D76-9E44-E17EEE2E5AF4}"/>
              </a:ext>
            </a:extLst>
          </p:cNvPr>
          <p:cNvSpPr txBox="1"/>
          <p:nvPr/>
        </p:nvSpPr>
        <p:spPr>
          <a:xfrm>
            <a:off x="76199" y="3693319"/>
            <a:ext cx="85888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⚡ Mid-Level Hot Topics (Still Get Good Views)</a:t>
            </a:r>
          </a:p>
          <a:p>
            <a:pPr>
              <a:buNone/>
            </a:pPr>
            <a:r>
              <a:rPr lang="en-US" b="1" dirty="0"/>
              <a:t>6. How to Use Window Functions (Real Examples)</a:t>
            </a:r>
          </a:p>
          <a:p>
            <a:pPr>
              <a:buNone/>
            </a:pPr>
            <a:r>
              <a:rPr lang="en-US" dirty="0"/>
              <a:t>ROW_NUMBER, LAG, LEAD, RANK… endless fun.</a:t>
            </a:r>
          </a:p>
          <a:p>
            <a:pPr>
              <a:buNone/>
            </a:pPr>
            <a:r>
              <a:rPr lang="en-US" b="1" dirty="0"/>
              <a:t>7. SQL You NEED for Analytics (Not All SQL Is Equal)</a:t>
            </a:r>
          </a:p>
          <a:p>
            <a:pPr>
              <a:buNone/>
            </a:pPr>
            <a:r>
              <a:rPr lang="en-US" dirty="0"/>
              <a:t>Business-focused SQL patterns: aggregations, cohort analysis, retention queries.</a:t>
            </a:r>
          </a:p>
          <a:p>
            <a:pPr>
              <a:buNone/>
            </a:pPr>
            <a:r>
              <a:rPr lang="en-US" b="1" dirty="0"/>
              <a:t>8. Common SQL Mistakes &amp; How to Fix Them</a:t>
            </a:r>
          </a:p>
          <a:p>
            <a:pPr>
              <a:buNone/>
            </a:pPr>
            <a:r>
              <a:rPr lang="en-US" dirty="0"/>
              <a:t>Perfect for beginners → intermediate audience.</a:t>
            </a:r>
          </a:p>
          <a:p>
            <a:pPr>
              <a:buNone/>
            </a:pPr>
            <a:r>
              <a:rPr lang="en-US" b="1" dirty="0"/>
              <a:t>9. SQL vs NoSQL: When to Use Each</a:t>
            </a:r>
          </a:p>
          <a:p>
            <a:pPr>
              <a:buNone/>
            </a:pPr>
            <a:r>
              <a:rPr lang="en-US" dirty="0"/>
              <a:t>Always sparks debate in the comments.</a:t>
            </a:r>
          </a:p>
          <a:p>
            <a:pPr>
              <a:buNone/>
            </a:pPr>
            <a:r>
              <a:rPr lang="en-US" b="1" dirty="0"/>
              <a:t>10. The Most Useful SQL Functions in 2025</a:t>
            </a:r>
          </a:p>
          <a:p>
            <a:pPr>
              <a:buNone/>
            </a:pPr>
            <a:r>
              <a:rPr lang="en-US" dirty="0"/>
              <a:t>String functions, date functions, conditional logic, aggregation helpers.</a:t>
            </a:r>
          </a:p>
        </p:txBody>
      </p:sp>
    </p:spTree>
    <p:extLst>
      <p:ext uri="{BB962C8B-B14F-4D97-AF65-F5344CB8AC3E}">
        <p14:creationId xmlns:p14="http://schemas.microsoft.com/office/powerpoint/2010/main" val="164369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7B1C5B-7CC1-E01B-E04A-3A089202C513}"/>
              </a:ext>
            </a:extLst>
          </p:cNvPr>
          <p:cNvSpPr txBox="1"/>
          <p:nvPr/>
        </p:nvSpPr>
        <p:spPr>
          <a:xfrm>
            <a:off x="0" y="0"/>
            <a:ext cx="76091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📚 Niche but Valuable Topics</a:t>
            </a:r>
          </a:p>
          <a:p>
            <a:pPr>
              <a:buNone/>
            </a:pPr>
            <a:r>
              <a:rPr lang="en-US" b="1" dirty="0"/>
              <a:t>11. Recursive CTEs Explained Simply</a:t>
            </a:r>
          </a:p>
          <a:p>
            <a:pPr>
              <a:buNone/>
            </a:pPr>
            <a:r>
              <a:rPr lang="en-US" dirty="0"/>
              <a:t>People fear them. You can be the hero.</a:t>
            </a:r>
          </a:p>
          <a:p>
            <a:pPr>
              <a:buNone/>
            </a:pPr>
            <a:r>
              <a:rPr lang="en-US" b="1" dirty="0"/>
              <a:t>12. SQL Windowing for Time Series Analysis</a:t>
            </a:r>
          </a:p>
          <a:p>
            <a:pPr>
              <a:buNone/>
            </a:pPr>
            <a:r>
              <a:rPr lang="en-US" dirty="0"/>
              <a:t>Rolling averages, moving windows. Loved by analysts/scientists.</a:t>
            </a:r>
          </a:p>
          <a:p>
            <a:pPr>
              <a:buNone/>
            </a:pPr>
            <a:r>
              <a:rPr lang="en-US" b="1" dirty="0"/>
              <a:t>13. How to Build Incremental Models Using SQL</a:t>
            </a:r>
          </a:p>
          <a:p>
            <a:pPr>
              <a:buNone/>
            </a:pPr>
            <a:r>
              <a:rPr lang="en-US" dirty="0" err="1"/>
              <a:t>dbt</a:t>
            </a:r>
            <a:r>
              <a:rPr lang="en-US" dirty="0"/>
              <a:t>, data engineering, warehouse-friendly patterns.</a:t>
            </a:r>
          </a:p>
          <a:p>
            <a:pPr>
              <a:buNone/>
            </a:pPr>
            <a:r>
              <a:rPr lang="en-US" b="1" dirty="0"/>
              <a:t>14. Complex Joins Without Losing Your Mind</a:t>
            </a:r>
          </a:p>
          <a:p>
            <a:pPr>
              <a:buNone/>
            </a:pPr>
            <a:r>
              <a:rPr lang="en-US" dirty="0"/>
              <a:t>LEFT vs INNER vs CROSS vs FULL OUTER; join traps; fan-out issues.</a:t>
            </a:r>
          </a:p>
          <a:p>
            <a:pPr>
              <a:buNone/>
            </a:pPr>
            <a:r>
              <a:rPr lang="en-US" b="1" dirty="0"/>
              <a:t>15. Understanding Query Execution Plans</a:t>
            </a:r>
          </a:p>
          <a:p>
            <a:pPr>
              <a:buNone/>
            </a:pPr>
            <a:r>
              <a:rPr lang="en-US" dirty="0"/>
              <a:t>A bit nerdy but gold for engineering-minded viewers</a:t>
            </a:r>
          </a:p>
        </p:txBody>
      </p:sp>
    </p:spTree>
    <p:extLst>
      <p:ext uri="{BB962C8B-B14F-4D97-AF65-F5344CB8AC3E}">
        <p14:creationId xmlns:p14="http://schemas.microsoft.com/office/powerpoint/2010/main" val="251981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6463F2-9872-8C77-9516-ADCA11018924}"/>
              </a:ext>
            </a:extLst>
          </p:cNvPr>
          <p:cNvSpPr txBox="1"/>
          <p:nvPr/>
        </p:nvSpPr>
        <p:spPr>
          <a:xfrm>
            <a:off x="185057" y="92010"/>
            <a:ext cx="1016725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🔥 Top SEO-Optimized SQL Video Titles</a:t>
            </a:r>
          </a:p>
          <a:p>
            <a:pPr>
              <a:buNone/>
            </a:pPr>
            <a:r>
              <a:rPr lang="en-US" b="1" dirty="0"/>
              <a:t>1. “Advanced SQL Tricks Every Data Engineer Must Know (2025 Guide)”</a:t>
            </a:r>
          </a:p>
          <a:p>
            <a:pPr>
              <a:buNone/>
            </a:pPr>
            <a:r>
              <a:rPr lang="en-US" b="1" dirty="0"/>
              <a:t>2. “Top 10 SQL Interview Questions With Real Answers (Data Jobs 2025)”</a:t>
            </a:r>
          </a:p>
          <a:p>
            <a:pPr>
              <a:buNone/>
            </a:pPr>
            <a:r>
              <a:rPr lang="en-US" b="1" dirty="0"/>
              <a:t>3. “SQL Performance Tuning 101: Make Your Queries 10x Faster”</a:t>
            </a:r>
          </a:p>
          <a:p>
            <a:pPr>
              <a:buNone/>
            </a:pPr>
            <a:r>
              <a:rPr lang="en-US" b="1" dirty="0"/>
              <a:t>4. “SQL for Data Engineering: The Patterns Every Pro Uses”</a:t>
            </a:r>
          </a:p>
          <a:p>
            <a:pPr>
              <a:buNone/>
            </a:pPr>
            <a:r>
              <a:rPr lang="en-US" b="1" dirty="0"/>
              <a:t>5. “Write SQL Like a Senior: Best Practices Nobody Teaches You”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⚡ High-Interest Titles That Rank Well</a:t>
            </a:r>
          </a:p>
          <a:p>
            <a:pPr>
              <a:buNone/>
            </a:pPr>
            <a:r>
              <a:rPr lang="en-US" b="1" dirty="0"/>
              <a:t>6. “Window Functions Explained: LAG, LEAD, RANK, ROW_NUMBER (With Examples)”</a:t>
            </a:r>
          </a:p>
          <a:p>
            <a:pPr>
              <a:buNone/>
            </a:pPr>
            <a:r>
              <a:rPr lang="en-US" b="1" dirty="0"/>
              <a:t>7. “SQL for Analytics: The Queries Every Analyst Should Know”</a:t>
            </a:r>
          </a:p>
          <a:p>
            <a:pPr>
              <a:buNone/>
            </a:pPr>
            <a:r>
              <a:rPr lang="en-US" b="1" dirty="0"/>
              <a:t>8. “5 Common SQL Mistakes Beginners Make (And How to Fix Them)”</a:t>
            </a:r>
          </a:p>
          <a:p>
            <a:pPr>
              <a:buNone/>
            </a:pPr>
            <a:r>
              <a:rPr lang="en-US" b="1" dirty="0"/>
              <a:t>9. “SQL vs NoSQL in 2025: What Should You Learn?”</a:t>
            </a:r>
          </a:p>
          <a:p>
            <a:pPr>
              <a:buNone/>
            </a:pPr>
            <a:r>
              <a:rPr lang="en-US" b="1" dirty="0"/>
              <a:t>10. “25 Most Useful SQL Functions You Should Master in 2025”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📚 Niche but Searchable SEO Titles</a:t>
            </a:r>
          </a:p>
          <a:p>
            <a:pPr>
              <a:buNone/>
            </a:pPr>
            <a:r>
              <a:rPr lang="en-US" b="1" dirty="0"/>
              <a:t>11. “Recursive CTEs Made Easy: The Simplest Explanation on YouTube”</a:t>
            </a:r>
          </a:p>
          <a:p>
            <a:pPr>
              <a:buNone/>
            </a:pPr>
            <a:r>
              <a:rPr lang="en-US" b="1" dirty="0"/>
              <a:t>12. “Time Series Analysis in SQL: Rolling Averages, Windows, Trends”</a:t>
            </a:r>
          </a:p>
          <a:p>
            <a:pPr>
              <a:buNone/>
            </a:pPr>
            <a:r>
              <a:rPr lang="en-US" b="1" dirty="0"/>
              <a:t>13. “How to Build Incremental Data Models Using SQL (</a:t>
            </a:r>
            <a:r>
              <a:rPr lang="en-US" b="1" dirty="0" err="1"/>
              <a:t>dbt</a:t>
            </a:r>
            <a:r>
              <a:rPr lang="en-US" b="1" dirty="0"/>
              <a:t> Friendly)”</a:t>
            </a:r>
          </a:p>
          <a:p>
            <a:pPr>
              <a:buNone/>
            </a:pPr>
            <a:r>
              <a:rPr lang="en-US" b="1" dirty="0"/>
              <a:t>14. “Master SQL Joins: INNER vs LEFT vs FULL OUTER (Real Examples)”</a:t>
            </a:r>
          </a:p>
          <a:p>
            <a:pPr>
              <a:buNone/>
            </a:pPr>
            <a:r>
              <a:rPr lang="en-US" b="1" dirty="0"/>
              <a:t>15. “How to Read SQL Execution Plans Like a Pro”</a:t>
            </a:r>
          </a:p>
        </p:txBody>
      </p:sp>
    </p:spTree>
    <p:extLst>
      <p:ext uri="{BB962C8B-B14F-4D97-AF65-F5344CB8AC3E}">
        <p14:creationId xmlns:p14="http://schemas.microsoft.com/office/powerpoint/2010/main" val="326691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Widescreen</PresentationFormat>
  <Paragraphs>69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Faramarz Hojati</dc:creator>
  <cp:lastModifiedBy>Faramarz Hojati</cp:lastModifiedBy>
  <cp:revision>6</cp:revision>
  <dcterms:created xsi:type="dcterms:W3CDTF">2025-11-24T17:42:46Z</dcterms:created>
  <dcterms:modified xsi:type="dcterms:W3CDTF">2025-11-24T17:59:12Z</dcterms:modified>
</cp:coreProperties>
</file>